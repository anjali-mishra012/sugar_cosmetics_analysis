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8" r:id="rId3"/>
    <p:sldId id="259" r:id="rId4"/>
    <p:sldId id="261" r:id="rId5"/>
    <p:sldId id="262" r:id="rId6"/>
    <p:sldId id="263" r:id="rId7"/>
    <p:sldId id="264" r:id="rId8"/>
    <p:sldId id="265" r:id="rId9"/>
    <p:sldId id="266" r:id="rId10"/>
  </p:sldIdLst>
  <p:sldSz cx="9144000" cy="5143500" type="screen16x9"/>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90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jalimishra.am111@gmail.com" userId="98924a2674df745c" providerId="LiveId" clId="{EFB6E974-0970-4062-ADA1-AD8CC8DFB908}"/>
    <pc:docChg chg="undo custSel addSld delSld modSld sldOrd">
      <pc:chgData name="anjalimishra.am111@gmail.com" userId="98924a2674df745c" providerId="LiveId" clId="{EFB6E974-0970-4062-ADA1-AD8CC8DFB908}" dt="2025-11-12T09:25:51.974" v="601" actId="2696"/>
      <pc:docMkLst>
        <pc:docMk/>
      </pc:docMkLst>
      <pc:sldChg chg="modSp mod">
        <pc:chgData name="anjalimishra.am111@gmail.com" userId="98924a2674df745c" providerId="LiveId" clId="{EFB6E974-0970-4062-ADA1-AD8CC8DFB908}" dt="2025-11-12T08:19:28.947" v="493" actId="207"/>
        <pc:sldMkLst>
          <pc:docMk/>
          <pc:sldMk cId="363920370" sldId="256"/>
        </pc:sldMkLst>
        <pc:spChg chg="mod">
          <ac:chgData name="anjalimishra.am111@gmail.com" userId="98924a2674df745c" providerId="LiveId" clId="{EFB6E974-0970-4062-ADA1-AD8CC8DFB908}" dt="2025-11-12T08:17:56.916" v="482" actId="14100"/>
          <ac:spMkLst>
            <pc:docMk/>
            <pc:sldMk cId="363920370" sldId="256"/>
            <ac:spMk id="2" creationId="{00000000-0000-0000-0000-000000000000}"/>
          </ac:spMkLst>
        </pc:spChg>
        <pc:spChg chg="mod">
          <ac:chgData name="anjalimishra.am111@gmail.com" userId="98924a2674df745c" providerId="LiveId" clId="{EFB6E974-0970-4062-ADA1-AD8CC8DFB908}" dt="2025-11-12T08:19:28.947" v="493" actId="207"/>
          <ac:spMkLst>
            <pc:docMk/>
            <pc:sldMk cId="363920370" sldId="256"/>
            <ac:spMk id="3" creationId="{00000000-0000-0000-0000-000000000000}"/>
          </ac:spMkLst>
        </pc:spChg>
      </pc:sldChg>
      <pc:sldChg chg="del">
        <pc:chgData name="anjalimishra.am111@gmail.com" userId="98924a2674df745c" providerId="LiveId" clId="{EFB6E974-0970-4062-ADA1-AD8CC8DFB908}" dt="2025-11-11T16:14:10.001" v="0" actId="47"/>
        <pc:sldMkLst>
          <pc:docMk/>
          <pc:sldMk cId="4103309497" sldId="257"/>
        </pc:sldMkLst>
      </pc:sldChg>
      <pc:sldChg chg="addSp modSp mod">
        <pc:chgData name="anjalimishra.am111@gmail.com" userId="98924a2674df745c" providerId="LiveId" clId="{EFB6E974-0970-4062-ADA1-AD8CC8DFB908}" dt="2025-11-12T08:27:46.005" v="522" actId="2711"/>
        <pc:sldMkLst>
          <pc:docMk/>
          <pc:sldMk cId="1101633878" sldId="258"/>
        </pc:sldMkLst>
        <pc:spChg chg="mod">
          <ac:chgData name="anjalimishra.am111@gmail.com" userId="98924a2674df745c" providerId="LiveId" clId="{EFB6E974-0970-4062-ADA1-AD8CC8DFB908}" dt="2025-11-12T08:27:46.005" v="522" actId="2711"/>
          <ac:spMkLst>
            <pc:docMk/>
            <pc:sldMk cId="1101633878" sldId="258"/>
            <ac:spMk id="4" creationId="{00000000-0000-0000-0000-000000000000}"/>
          </ac:spMkLst>
        </pc:spChg>
        <pc:spChg chg="mod">
          <ac:chgData name="anjalimishra.am111@gmail.com" userId="98924a2674df745c" providerId="LiveId" clId="{EFB6E974-0970-4062-ADA1-AD8CC8DFB908}" dt="2025-11-12T08:06:14.229" v="442" actId="1076"/>
          <ac:spMkLst>
            <pc:docMk/>
            <pc:sldMk cId="1101633878" sldId="258"/>
            <ac:spMk id="5" creationId="{00000000-0000-0000-0000-000000000000}"/>
          </ac:spMkLst>
        </pc:spChg>
        <pc:cxnChg chg="add mod">
          <ac:chgData name="anjalimishra.am111@gmail.com" userId="98924a2674df745c" providerId="LiveId" clId="{EFB6E974-0970-4062-ADA1-AD8CC8DFB908}" dt="2025-11-12T08:27:29.688" v="520" actId="1076"/>
          <ac:cxnSpMkLst>
            <pc:docMk/>
            <pc:sldMk cId="1101633878" sldId="258"/>
            <ac:cxnSpMk id="2" creationId="{D782409D-B71D-FA80-8BC2-F41D51DB96CE}"/>
          </ac:cxnSpMkLst>
        </pc:cxnChg>
      </pc:sldChg>
      <pc:sldChg chg="modSp mod">
        <pc:chgData name="anjalimishra.am111@gmail.com" userId="98924a2674df745c" providerId="LiveId" clId="{EFB6E974-0970-4062-ADA1-AD8CC8DFB908}" dt="2025-11-12T08:14:49.387" v="459" actId="207"/>
        <pc:sldMkLst>
          <pc:docMk/>
          <pc:sldMk cId="4170783713" sldId="259"/>
        </pc:sldMkLst>
        <pc:spChg chg="mod">
          <ac:chgData name="anjalimishra.am111@gmail.com" userId="98924a2674df745c" providerId="LiveId" clId="{EFB6E974-0970-4062-ADA1-AD8CC8DFB908}" dt="2025-11-12T08:14:18.648" v="458" actId="207"/>
          <ac:spMkLst>
            <pc:docMk/>
            <pc:sldMk cId="4170783713" sldId="259"/>
            <ac:spMk id="6" creationId="{00000000-0000-0000-0000-000000000000}"/>
          </ac:spMkLst>
        </pc:spChg>
        <pc:spChg chg="mod">
          <ac:chgData name="anjalimishra.am111@gmail.com" userId="98924a2674df745c" providerId="LiveId" clId="{EFB6E974-0970-4062-ADA1-AD8CC8DFB908}" dt="2025-11-12T08:14:49.387" v="459" actId="207"/>
          <ac:spMkLst>
            <pc:docMk/>
            <pc:sldMk cId="4170783713" sldId="259"/>
            <ac:spMk id="8" creationId="{00000000-0000-0000-0000-000000000000}"/>
          </ac:spMkLst>
        </pc:spChg>
      </pc:sldChg>
      <pc:sldChg chg="del">
        <pc:chgData name="anjalimishra.am111@gmail.com" userId="98924a2674df745c" providerId="LiveId" clId="{EFB6E974-0970-4062-ADA1-AD8CC8DFB908}" dt="2025-11-12T08:04:51.079" v="433" actId="2696"/>
        <pc:sldMkLst>
          <pc:docMk/>
          <pc:sldMk cId="109100692" sldId="260"/>
        </pc:sldMkLst>
      </pc:sldChg>
      <pc:sldChg chg="addSp modSp new mod">
        <pc:chgData name="anjalimishra.am111@gmail.com" userId="98924a2674df745c" providerId="LiveId" clId="{EFB6E974-0970-4062-ADA1-AD8CC8DFB908}" dt="2025-11-12T08:32:10.746" v="570" actId="14100"/>
        <pc:sldMkLst>
          <pc:docMk/>
          <pc:sldMk cId="2915215494" sldId="261"/>
        </pc:sldMkLst>
        <pc:spChg chg="mod">
          <ac:chgData name="anjalimishra.am111@gmail.com" userId="98924a2674df745c" providerId="LiveId" clId="{EFB6E974-0970-4062-ADA1-AD8CC8DFB908}" dt="2025-11-11T16:26:00.695" v="94" actId="2711"/>
          <ac:spMkLst>
            <pc:docMk/>
            <pc:sldMk cId="2915215494" sldId="261"/>
            <ac:spMk id="2" creationId="{F1A7E331-A75F-91F2-288E-323B81EE09C2}"/>
          </ac:spMkLst>
        </pc:spChg>
        <pc:spChg chg="mod">
          <ac:chgData name="anjalimishra.am111@gmail.com" userId="98924a2674df745c" providerId="LiveId" clId="{EFB6E974-0970-4062-ADA1-AD8CC8DFB908}" dt="2025-11-11T16:25:17.609" v="91" actId="1076"/>
          <ac:spMkLst>
            <pc:docMk/>
            <pc:sldMk cId="2915215494" sldId="261"/>
            <ac:spMk id="3" creationId="{9404B067-2523-BD26-3BF4-851B3F1740F9}"/>
          </ac:spMkLst>
        </pc:spChg>
        <pc:spChg chg="add mod">
          <ac:chgData name="anjalimishra.am111@gmail.com" userId="98924a2674df745c" providerId="LiveId" clId="{EFB6E974-0970-4062-ADA1-AD8CC8DFB908}" dt="2025-11-11T16:25:22.889" v="92" actId="1076"/>
          <ac:spMkLst>
            <pc:docMk/>
            <pc:sldMk cId="2915215494" sldId="261"/>
            <ac:spMk id="5" creationId="{D7081669-5796-7909-FB1C-37BE44837DFA}"/>
          </ac:spMkLst>
        </pc:spChg>
        <pc:spChg chg="add mod">
          <ac:chgData name="anjalimishra.am111@gmail.com" userId="98924a2674df745c" providerId="LiveId" clId="{EFB6E974-0970-4062-ADA1-AD8CC8DFB908}" dt="2025-11-11T16:21:03.683" v="67" actId="6549"/>
          <ac:spMkLst>
            <pc:docMk/>
            <pc:sldMk cId="2915215494" sldId="261"/>
            <ac:spMk id="7" creationId="{E92781FF-3DAC-4384-3554-6D2FEEC544FD}"/>
          </ac:spMkLst>
        </pc:spChg>
        <pc:spChg chg="add mod">
          <ac:chgData name="anjalimishra.am111@gmail.com" userId="98924a2674df745c" providerId="LiveId" clId="{EFB6E974-0970-4062-ADA1-AD8CC8DFB908}" dt="2025-11-11T16:25:31.367" v="93" actId="1076"/>
          <ac:spMkLst>
            <pc:docMk/>
            <pc:sldMk cId="2915215494" sldId="261"/>
            <ac:spMk id="9" creationId="{E629CD40-9B8D-B084-373D-A8BB2DA24DBE}"/>
          </ac:spMkLst>
        </pc:spChg>
        <pc:spChg chg="add mod">
          <ac:chgData name="anjalimishra.am111@gmail.com" userId="98924a2674df745c" providerId="LiveId" clId="{EFB6E974-0970-4062-ADA1-AD8CC8DFB908}" dt="2025-11-11T16:25:10.734" v="90" actId="1076"/>
          <ac:spMkLst>
            <pc:docMk/>
            <pc:sldMk cId="2915215494" sldId="261"/>
            <ac:spMk id="11" creationId="{420C761B-A409-1F73-CAA7-6BC853EAAA0A}"/>
          </ac:spMkLst>
        </pc:spChg>
        <pc:cxnChg chg="add mod">
          <ac:chgData name="anjalimishra.am111@gmail.com" userId="98924a2674df745c" providerId="LiveId" clId="{EFB6E974-0970-4062-ADA1-AD8CC8DFB908}" dt="2025-11-12T08:32:10.746" v="570" actId="14100"/>
          <ac:cxnSpMkLst>
            <pc:docMk/>
            <pc:sldMk cId="2915215494" sldId="261"/>
            <ac:cxnSpMk id="6" creationId="{1414D9BA-171C-D8B3-1880-E6930206430C}"/>
          </ac:cxnSpMkLst>
        </pc:cxnChg>
      </pc:sldChg>
      <pc:sldChg chg="addSp delSp modSp new mod">
        <pc:chgData name="anjalimishra.am111@gmail.com" userId="98924a2674df745c" providerId="LiveId" clId="{EFB6E974-0970-4062-ADA1-AD8CC8DFB908}" dt="2025-11-12T08:35:27.332" v="586" actId="113"/>
        <pc:sldMkLst>
          <pc:docMk/>
          <pc:sldMk cId="3685298850" sldId="262"/>
        </pc:sldMkLst>
        <pc:spChg chg="mod">
          <ac:chgData name="anjalimishra.am111@gmail.com" userId="98924a2674df745c" providerId="LiveId" clId="{EFB6E974-0970-4062-ADA1-AD8CC8DFB908}" dt="2025-11-12T08:31:51.822" v="568" actId="207"/>
          <ac:spMkLst>
            <pc:docMk/>
            <pc:sldMk cId="3685298850" sldId="262"/>
            <ac:spMk id="2" creationId="{A2CD6323-ADF6-16AB-6E61-F9FB914A8850}"/>
          </ac:spMkLst>
        </pc:spChg>
        <pc:spChg chg="mod">
          <ac:chgData name="anjalimishra.am111@gmail.com" userId="98924a2674df745c" providerId="LiveId" clId="{EFB6E974-0970-4062-ADA1-AD8CC8DFB908}" dt="2025-11-11T16:32:46.770" v="142" actId="255"/>
          <ac:spMkLst>
            <pc:docMk/>
            <pc:sldMk cId="3685298850" sldId="262"/>
            <ac:spMk id="3" creationId="{1F8EA25A-D998-6E3A-6673-2DCCB689A821}"/>
          </ac:spMkLst>
        </pc:spChg>
        <pc:spChg chg="add del mod">
          <ac:chgData name="anjalimishra.am111@gmail.com" userId="98924a2674df745c" providerId="LiveId" clId="{EFB6E974-0970-4062-ADA1-AD8CC8DFB908}" dt="2025-11-11T16:33:47.232" v="146" actId="207"/>
          <ac:spMkLst>
            <pc:docMk/>
            <pc:sldMk cId="3685298850" sldId="262"/>
            <ac:spMk id="4" creationId="{7298247F-7DFE-29F4-2EB4-A9DD5EB0B367}"/>
          </ac:spMkLst>
        </pc:spChg>
        <pc:spChg chg="add mod ord">
          <ac:chgData name="anjalimishra.am111@gmail.com" userId="98924a2674df745c" providerId="LiveId" clId="{EFB6E974-0970-4062-ADA1-AD8CC8DFB908}" dt="2025-11-12T08:29:36.661" v="533" actId="14100"/>
          <ac:spMkLst>
            <pc:docMk/>
            <pc:sldMk cId="3685298850" sldId="262"/>
            <ac:spMk id="5" creationId="{B5F510C9-2B82-DA89-8D35-71616B0FC9CA}"/>
          </ac:spMkLst>
        </pc:spChg>
        <pc:spChg chg="add mod">
          <ac:chgData name="anjalimishra.am111@gmail.com" userId="98924a2674df745c" providerId="LiveId" clId="{EFB6E974-0970-4062-ADA1-AD8CC8DFB908}" dt="2025-11-12T08:35:27.332" v="586" actId="113"/>
          <ac:spMkLst>
            <pc:docMk/>
            <pc:sldMk cId="3685298850" sldId="262"/>
            <ac:spMk id="6" creationId="{4CBF9973-2AF6-57C9-4263-F840BF376313}"/>
          </ac:spMkLst>
        </pc:spChg>
        <pc:spChg chg="add mod ord">
          <ac:chgData name="anjalimishra.am111@gmail.com" userId="98924a2674df745c" providerId="LiveId" clId="{EFB6E974-0970-4062-ADA1-AD8CC8DFB908}" dt="2025-11-12T08:30:59.951" v="564" actId="1076"/>
          <ac:spMkLst>
            <pc:docMk/>
            <pc:sldMk cId="3685298850" sldId="262"/>
            <ac:spMk id="7" creationId="{E3E120A9-3799-7884-3A03-27DACF510B95}"/>
          </ac:spMkLst>
        </pc:spChg>
        <pc:graphicFrameChg chg="add mod">
          <ac:chgData name="anjalimishra.am111@gmail.com" userId="98924a2674df745c" providerId="LiveId" clId="{EFB6E974-0970-4062-ADA1-AD8CC8DFB908}" dt="2025-11-11T16:32:29.528" v="140" actId="12084"/>
          <ac:graphicFrameMkLst>
            <pc:docMk/>
            <pc:sldMk cId="3685298850" sldId="262"/>
            <ac:graphicFrameMk id="5" creationId="{B792D01B-CEF8-06D1-68F3-BDC2D7CB81FA}"/>
          </ac:graphicFrameMkLst>
        </pc:graphicFrameChg>
        <pc:picChg chg="add mod">
          <ac:chgData name="anjalimishra.am111@gmail.com" userId="98924a2674df745c" providerId="LiveId" clId="{EFB6E974-0970-4062-ADA1-AD8CC8DFB908}" dt="2025-11-11T16:35:16.826" v="186" actId="1076"/>
          <ac:picMkLst>
            <pc:docMk/>
            <pc:sldMk cId="3685298850" sldId="262"/>
            <ac:picMk id="8" creationId="{756988D9-EF2E-427A-8FA0-B91B94E67CB3}"/>
          </ac:picMkLst>
        </pc:picChg>
      </pc:sldChg>
      <pc:sldChg chg="addSp modSp new mod">
        <pc:chgData name="anjalimishra.am111@gmail.com" userId="98924a2674df745c" providerId="LiveId" clId="{EFB6E974-0970-4062-ADA1-AD8CC8DFB908}" dt="2025-11-12T08:33:07.001" v="574" actId="2711"/>
        <pc:sldMkLst>
          <pc:docMk/>
          <pc:sldMk cId="142728963" sldId="263"/>
        </pc:sldMkLst>
        <pc:spChg chg="mod">
          <ac:chgData name="anjalimishra.am111@gmail.com" userId="98924a2674df745c" providerId="LiveId" clId="{EFB6E974-0970-4062-ADA1-AD8CC8DFB908}" dt="2025-11-12T08:33:07.001" v="574" actId="2711"/>
          <ac:spMkLst>
            <pc:docMk/>
            <pc:sldMk cId="142728963" sldId="263"/>
            <ac:spMk id="2" creationId="{9C2B8E93-8BC5-78CF-FA67-6A1F94F965A7}"/>
          </ac:spMkLst>
        </pc:spChg>
        <pc:spChg chg="mod">
          <ac:chgData name="anjalimishra.am111@gmail.com" userId="98924a2674df745c" providerId="LiveId" clId="{EFB6E974-0970-4062-ADA1-AD8CC8DFB908}" dt="2025-11-12T08:08:13.850" v="447" actId="20577"/>
          <ac:spMkLst>
            <pc:docMk/>
            <pc:sldMk cId="142728963" sldId="263"/>
            <ac:spMk id="3" creationId="{3576A5F1-3D30-F9B3-E2E5-901983490EB2}"/>
          </ac:spMkLst>
        </pc:spChg>
        <pc:picChg chg="add mod">
          <ac:chgData name="anjalimishra.am111@gmail.com" userId="98924a2674df745c" providerId="LiveId" clId="{EFB6E974-0970-4062-ADA1-AD8CC8DFB908}" dt="2025-11-12T07:39:56.011" v="317" actId="14100"/>
          <ac:picMkLst>
            <pc:docMk/>
            <pc:sldMk cId="142728963" sldId="263"/>
            <ac:picMk id="5" creationId="{6332DD09-CC8F-F123-5A7C-10E5992BADED}"/>
          </ac:picMkLst>
        </pc:picChg>
        <pc:cxnChg chg="add mod">
          <ac:chgData name="anjalimishra.am111@gmail.com" userId="98924a2674df745c" providerId="LiveId" clId="{EFB6E974-0970-4062-ADA1-AD8CC8DFB908}" dt="2025-11-12T08:32:59.706" v="573" actId="14100"/>
          <ac:cxnSpMkLst>
            <pc:docMk/>
            <pc:sldMk cId="142728963" sldId="263"/>
            <ac:cxnSpMk id="6" creationId="{B2BC258B-D23B-6D74-1397-D1F85621D7D0}"/>
          </ac:cxnSpMkLst>
        </pc:cxnChg>
      </pc:sldChg>
      <pc:sldChg chg="addSp delSp modSp new mod ord">
        <pc:chgData name="anjalimishra.am111@gmail.com" userId="98924a2674df745c" providerId="LiveId" clId="{EFB6E974-0970-4062-ADA1-AD8CC8DFB908}" dt="2025-11-12T08:34:31.708" v="583" actId="14100"/>
        <pc:sldMkLst>
          <pc:docMk/>
          <pc:sldMk cId="1648764033" sldId="264"/>
        </pc:sldMkLst>
        <pc:spChg chg="del mod">
          <ac:chgData name="anjalimishra.am111@gmail.com" userId="98924a2674df745c" providerId="LiveId" clId="{EFB6E974-0970-4062-ADA1-AD8CC8DFB908}" dt="2025-11-12T07:53:54.956" v="361" actId="478"/>
          <ac:spMkLst>
            <pc:docMk/>
            <pc:sldMk cId="1648764033" sldId="264"/>
            <ac:spMk id="2" creationId="{7F326106-4902-2B4E-6D5E-0FC969B2158D}"/>
          </ac:spMkLst>
        </pc:spChg>
        <pc:spChg chg="del mod">
          <ac:chgData name="anjalimishra.am111@gmail.com" userId="98924a2674df745c" providerId="LiveId" clId="{EFB6E974-0970-4062-ADA1-AD8CC8DFB908}" dt="2025-11-12T07:48:23.078" v="330" actId="931"/>
          <ac:spMkLst>
            <pc:docMk/>
            <pc:sldMk cId="1648764033" sldId="264"/>
            <ac:spMk id="3" creationId="{DBE0BDD1-DF5F-2C1D-6B5C-19512DB7A86E}"/>
          </ac:spMkLst>
        </pc:spChg>
        <pc:spChg chg="mod">
          <ac:chgData name="anjalimishra.am111@gmail.com" userId="98924a2674df745c" providerId="LiveId" clId="{EFB6E974-0970-4062-ADA1-AD8CC8DFB908}" dt="2025-11-12T07:59:50.826" v="407" actId="207"/>
          <ac:spMkLst>
            <pc:docMk/>
            <pc:sldMk cId="1648764033" sldId="264"/>
            <ac:spMk id="4" creationId="{08B0FDCD-D656-321F-0F28-A4FBBFD8A5F9}"/>
          </ac:spMkLst>
        </pc:spChg>
        <pc:spChg chg="add mod">
          <ac:chgData name="anjalimishra.am111@gmail.com" userId="98924a2674df745c" providerId="LiveId" clId="{EFB6E974-0970-4062-ADA1-AD8CC8DFB908}" dt="2025-11-12T07:59:40.613" v="406" actId="207"/>
          <ac:spMkLst>
            <pc:docMk/>
            <pc:sldMk cId="1648764033" sldId="264"/>
            <ac:spMk id="11" creationId="{ADE68769-092A-C7DB-9710-EECA1231A3DC}"/>
          </ac:spMkLst>
        </pc:spChg>
        <pc:spChg chg="add del mod">
          <ac:chgData name="anjalimishra.am111@gmail.com" userId="98924a2674df745c" providerId="LiveId" clId="{EFB6E974-0970-4062-ADA1-AD8CC8DFB908}" dt="2025-11-12T07:53:54.968" v="363"/>
          <ac:spMkLst>
            <pc:docMk/>
            <pc:sldMk cId="1648764033" sldId="264"/>
            <ac:spMk id="12" creationId="{23E93516-262A-CEC6-228B-608846259040}"/>
          </ac:spMkLst>
        </pc:spChg>
        <pc:spChg chg="add mod">
          <ac:chgData name="anjalimishra.am111@gmail.com" userId="98924a2674df745c" providerId="LiveId" clId="{EFB6E974-0970-4062-ADA1-AD8CC8DFB908}" dt="2025-11-12T08:34:16.118" v="581" actId="403"/>
          <ac:spMkLst>
            <pc:docMk/>
            <pc:sldMk cId="1648764033" sldId="264"/>
            <ac:spMk id="13" creationId="{FE8259DF-A76E-763A-9181-A1D2219AF5ED}"/>
          </ac:spMkLst>
        </pc:spChg>
        <pc:picChg chg="add mod">
          <ac:chgData name="anjalimishra.am111@gmail.com" userId="98924a2674df745c" providerId="LiveId" clId="{EFB6E974-0970-4062-ADA1-AD8CC8DFB908}" dt="2025-11-12T07:55:26.040" v="370" actId="1440"/>
          <ac:picMkLst>
            <pc:docMk/>
            <pc:sldMk cId="1648764033" sldId="264"/>
            <ac:picMk id="6" creationId="{5506ADBB-1232-0F7E-9588-E9DF366189EE}"/>
          </ac:picMkLst>
        </pc:picChg>
        <pc:picChg chg="add del mod">
          <ac:chgData name="anjalimishra.am111@gmail.com" userId="98924a2674df745c" providerId="LiveId" clId="{EFB6E974-0970-4062-ADA1-AD8CC8DFB908}" dt="2025-11-12T07:48:51.355" v="334" actId="478"/>
          <ac:picMkLst>
            <pc:docMk/>
            <pc:sldMk cId="1648764033" sldId="264"/>
            <ac:picMk id="7" creationId="{F2571849-393E-9B28-7629-A1E4346B41E4}"/>
          </ac:picMkLst>
        </pc:picChg>
        <pc:picChg chg="add mod">
          <ac:chgData name="anjalimishra.am111@gmail.com" userId="98924a2674df745c" providerId="LiveId" clId="{EFB6E974-0970-4062-ADA1-AD8CC8DFB908}" dt="2025-11-12T07:54:58.784" v="369" actId="1440"/>
          <ac:picMkLst>
            <pc:docMk/>
            <pc:sldMk cId="1648764033" sldId="264"/>
            <ac:picMk id="9" creationId="{51A1CDB3-E901-F0E9-3B32-C6123FDA354F}"/>
          </ac:picMkLst>
        </pc:picChg>
        <pc:cxnChg chg="add mod">
          <ac:chgData name="anjalimishra.am111@gmail.com" userId="98924a2674df745c" providerId="LiveId" clId="{EFB6E974-0970-4062-ADA1-AD8CC8DFB908}" dt="2025-11-12T08:34:31.708" v="583" actId="14100"/>
          <ac:cxnSpMkLst>
            <pc:docMk/>
            <pc:sldMk cId="1648764033" sldId="264"/>
            <ac:cxnSpMk id="14" creationId="{F896C404-6DA8-516A-2022-BE43E2689EC7}"/>
          </ac:cxnSpMkLst>
        </pc:cxnChg>
      </pc:sldChg>
      <pc:sldChg chg="addSp modSp new mod">
        <pc:chgData name="anjalimishra.am111@gmail.com" userId="98924a2674df745c" providerId="LiveId" clId="{EFB6E974-0970-4062-ADA1-AD8CC8DFB908}" dt="2025-11-12T08:34:55.862" v="585" actId="2711"/>
        <pc:sldMkLst>
          <pc:docMk/>
          <pc:sldMk cId="1412729715" sldId="265"/>
        </pc:sldMkLst>
        <pc:spChg chg="mod">
          <ac:chgData name="anjalimishra.am111@gmail.com" userId="98924a2674df745c" providerId="LiveId" clId="{EFB6E974-0970-4062-ADA1-AD8CC8DFB908}" dt="2025-11-12T08:34:55.862" v="585" actId="2711"/>
          <ac:spMkLst>
            <pc:docMk/>
            <pc:sldMk cId="1412729715" sldId="265"/>
            <ac:spMk id="2" creationId="{E8F43E3A-F1BB-3CB2-9D60-F736A7DF1275}"/>
          </ac:spMkLst>
        </pc:spChg>
        <pc:spChg chg="mod">
          <ac:chgData name="anjalimishra.am111@gmail.com" userId="98924a2674df745c" providerId="LiveId" clId="{EFB6E974-0970-4062-ADA1-AD8CC8DFB908}" dt="2025-11-12T08:10:46.249" v="452" actId="207"/>
          <ac:spMkLst>
            <pc:docMk/>
            <pc:sldMk cId="1412729715" sldId="265"/>
            <ac:spMk id="3" creationId="{F7D1830B-2053-AE37-9214-9DC613B86BD8}"/>
          </ac:spMkLst>
        </pc:spChg>
        <pc:cxnChg chg="add mod">
          <ac:chgData name="anjalimishra.am111@gmail.com" userId="98924a2674df745c" providerId="LiveId" clId="{EFB6E974-0970-4062-ADA1-AD8CC8DFB908}" dt="2025-11-12T08:34:44.220" v="584"/>
          <ac:cxnSpMkLst>
            <pc:docMk/>
            <pc:sldMk cId="1412729715" sldId="265"/>
            <ac:cxnSpMk id="4" creationId="{37555CF2-D8C7-018E-3CAF-0EB949ECC636}"/>
          </ac:cxnSpMkLst>
        </pc:cxnChg>
      </pc:sldChg>
      <pc:sldChg chg="modSp new mod">
        <pc:chgData name="anjalimishra.am111@gmail.com" userId="98924a2674df745c" providerId="LiveId" clId="{EFB6E974-0970-4062-ADA1-AD8CC8DFB908}" dt="2025-11-12T08:16:14.082" v="471" actId="2711"/>
        <pc:sldMkLst>
          <pc:docMk/>
          <pc:sldMk cId="2670793103" sldId="266"/>
        </pc:sldMkLst>
        <pc:spChg chg="mod">
          <ac:chgData name="anjalimishra.am111@gmail.com" userId="98924a2674df745c" providerId="LiveId" clId="{EFB6E974-0970-4062-ADA1-AD8CC8DFB908}" dt="2025-11-12T08:16:14.082" v="471" actId="2711"/>
          <ac:spMkLst>
            <pc:docMk/>
            <pc:sldMk cId="2670793103" sldId="266"/>
            <ac:spMk id="2" creationId="{678008AC-F272-DB68-2E23-A5AA02FBCCBE}"/>
          </ac:spMkLst>
        </pc:spChg>
      </pc:sldChg>
      <pc:sldChg chg="addSp delSp modSp new del mod">
        <pc:chgData name="anjalimishra.am111@gmail.com" userId="98924a2674df745c" providerId="LiveId" clId="{EFB6E974-0970-4062-ADA1-AD8CC8DFB908}" dt="2025-11-12T09:25:51.974" v="601" actId="2696"/>
        <pc:sldMkLst>
          <pc:docMk/>
          <pc:sldMk cId="1673128974" sldId="267"/>
        </pc:sldMkLst>
        <pc:spChg chg="del">
          <ac:chgData name="anjalimishra.am111@gmail.com" userId="98924a2674df745c" providerId="LiveId" clId="{EFB6E974-0970-4062-ADA1-AD8CC8DFB908}" dt="2025-11-12T09:08:47.007" v="589" actId="1957"/>
          <ac:spMkLst>
            <pc:docMk/>
            <pc:sldMk cId="1673128974" sldId="267"/>
            <ac:spMk id="3" creationId="{4BEE1B44-1E56-99CF-D41E-1B2803CBD950}"/>
          </ac:spMkLst>
        </pc:spChg>
        <pc:graphicFrameChg chg="add mod">
          <ac:chgData name="anjalimishra.am111@gmail.com" userId="98924a2674df745c" providerId="LiveId" clId="{EFB6E974-0970-4062-ADA1-AD8CC8DFB908}" dt="2025-11-12T09:22:40.036" v="597" actId="1957"/>
          <ac:graphicFrameMkLst>
            <pc:docMk/>
            <pc:sldMk cId="1673128974" sldId="267"/>
            <ac:graphicFrameMk id="7" creationId="{464AF183-DF1B-36CB-A94D-06A61A368B4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3344" y="1783168"/>
            <a:ext cx="8229599" cy="2020499"/>
          </a:xfrm>
          <a:noFill/>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450272" y="3803667"/>
            <a:ext cx="8229600" cy="642397"/>
          </a:xfrm>
        </p:spPr>
        <p:txBody>
          <a:bodyPr>
            <a:normAutofit/>
          </a:bodyPr>
          <a:lstStyle>
            <a:lvl1pPr marL="0" indent="0" algn="l">
              <a:buNone/>
              <a:defRPr sz="2800" b="0" i="0">
                <a:solidFill>
                  <a:srgbClr val="2A000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81178"/>
            <a:ext cx="8246070" cy="763526"/>
          </a:xfrm>
        </p:spPr>
        <p:txBody>
          <a:bodyPr>
            <a:normAutofit/>
          </a:bodyPr>
          <a:lstStyle>
            <a:lvl1pPr algn="l">
              <a:defRPr sz="3600" baseline="0">
                <a:solidFill>
                  <a:srgbClr val="2A000F"/>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502815"/>
            <a:ext cx="8246070" cy="3359507"/>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8965" y="586585"/>
            <a:ext cx="6708433" cy="572644"/>
          </a:xfrm>
        </p:spPr>
        <p:txBody>
          <a:bodyPr>
            <a:normAutofit/>
          </a:bodyPr>
          <a:lstStyle>
            <a:lvl1pPr algn="l">
              <a:defRPr sz="3600">
                <a:solidFill>
                  <a:srgbClr val="2A000F"/>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5" y="1197405"/>
            <a:ext cx="6708433" cy="3511061"/>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6879" y="256066"/>
            <a:ext cx="8093365" cy="763525"/>
          </a:xfrm>
        </p:spPr>
        <p:txBody>
          <a:bodyPr>
            <a:normAutofit/>
          </a:bodyPr>
          <a:lstStyle>
            <a:lvl1pPr algn="l">
              <a:defRPr sz="3600" baseline="0">
                <a:solidFill>
                  <a:srgbClr val="2A000F"/>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793943"/>
            <a:ext cx="4040188" cy="479822"/>
          </a:xfrm>
        </p:spPr>
        <p:txBody>
          <a:bodyPr anchor="b"/>
          <a:lstStyle>
            <a:lvl1pPr marL="0" indent="0" algn="ctr">
              <a:buNone/>
              <a:defRPr sz="2400" b="1">
                <a:solidFill>
                  <a:srgbClr val="2A000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266340"/>
            <a:ext cx="4040188"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793943"/>
            <a:ext cx="4041775" cy="479822"/>
          </a:xfrm>
        </p:spPr>
        <p:txBody>
          <a:bodyPr anchor="b"/>
          <a:lstStyle>
            <a:lvl1pPr marL="0" indent="0" algn="ctr">
              <a:buNone/>
              <a:defRPr sz="2400" b="1">
                <a:solidFill>
                  <a:srgbClr val="2A000F"/>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266340"/>
            <a:ext cx="4041775"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11/12/2025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345" y="1783169"/>
            <a:ext cx="4360010" cy="1896466"/>
          </a:xfrm>
        </p:spPr>
        <p:txBody>
          <a:bodyPr>
            <a:normAutofit/>
          </a:bodyPr>
          <a:lstStyle/>
          <a:p>
            <a:r>
              <a:rPr lang="en-US" dirty="0">
                <a:solidFill>
                  <a:schemeClr val="accent2">
                    <a:lumMod val="40000"/>
                    <a:lumOff val="60000"/>
                  </a:schemeClr>
                </a:solidFill>
                <a:latin typeface="ADLaM Display" panose="02010000000000000000" pitchFamily="2" charset="0"/>
                <a:ea typeface="ADLaM Display" panose="02010000000000000000" pitchFamily="2" charset="0"/>
                <a:cs typeface="ADLaM Display" panose="02010000000000000000" pitchFamily="2" charset="0"/>
              </a:rPr>
              <a:t>SUGAR  COSMETICS</a:t>
            </a:r>
          </a:p>
        </p:txBody>
      </p:sp>
      <p:sp>
        <p:nvSpPr>
          <p:cNvPr id="3" name="Subtitle 2"/>
          <p:cNvSpPr>
            <a:spLocks noGrp="1"/>
          </p:cNvSpPr>
          <p:nvPr>
            <p:ph type="subTitle" idx="1"/>
          </p:nvPr>
        </p:nvSpPr>
        <p:spPr>
          <a:xfrm>
            <a:off x="2104221" y="3490638"/>
            <a:ext cx="2467779" cy="642397"/>
          </a:xfrm>
        </p:spPr>
        <p:txBody>
          <a:bodyPr>
            <a:normAutofit/>
          </a:bodyPr>
          <a:lstStyle/>
          <a:p>
            <a:r>
              <a:rPr lang="en-US" sz="1200" dirty="0">
                <a:solidFill>
                  <a:schemeClr val="bg1"/>
                </a:solidFill>
              </a:rPr>
              <a:t>PRESENTED BY ANJALI MISHRA</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0855" y="361887"/>
            <a:ext cx="1831526" cy="725349"/>
          </a:xfrm>
        </p:spPr>
        <p:txBody>
          <a:bodyPr>
            <a:normAutofit/>
          </a:bodyPr>
          <a:lstStyle/>
          <a:p>
            <a:r>
              <a:rPr lang="en-US" dirty="0">
                <a:latin typeface="Gabriola" panose="04040605051002020D02" pitchFamily="82" charset="0"/>
              </a:rPr>
              <a:t>ABOUT</a:t>
            </a:r>
          </a:p>
        </p:txBody>
      </p:sp>
      <p:sp>
        <p:nvSpPr>
          <p:cNvPr id="5" name="Content Placeholder 4"/>
          <p:cNvSpPr>
            <a:spLocks noGrp="1"/>
          </p:cNvSpPr>
          <p:nvPr>
            <p:ph idx="1"/>
          </p:nvPr>
        </p:nvSpPr>
        <p:spPr>
          <a:xfrm>
            <a:off x="165253" y="1087236"/>
            <a:ext cx="4828114" cy="3664919"/>
          </a:xfrm>
        </p:spPr>
        <p:txBody>
          <a:bodyPr>
            <a:normAutofit fontScale="92500" lnSpcReduction="10000"/>
          </a:bodyPr>
          <a:lstStyle/>
          <a:p>
            <a:pPr marL="0" indent="0">
              <a:buNone/>
            </a:pPr>
            <a:r>
              <a:rPr lang="en-US" dirty="0">
                <a:ln w="0">
                  <a:noFill/>
                </a:ln>
                <a:effectLst>
                  <a:outerShdw blurRad="38100" dist="19050" dir="2700000" algn="tl" rotWithShape="0">
                    <a:schemeClr val="dk1">
                      <a:alpha val="40000"/>
                    </a:schemeClr>
                  </a:outerShdw>
                </a:effectLst>
                <a:latin typeface="Gabriola" panose="04040605051002020D02" pitchFamily="82" charset="0"/>
                <a:ea typeface="Cambria" panose="02040503050406030204" pitchFamily="18" charset="0"/>
              </a:rPr>
              <a:t>SUGAR Cosmetics is an Indian beauty and cosmetics brand that offers a wide range of makeup and skincare products specially designed for Indian skin tones.  The company emphasizes high-performance, cruelty-free formulations, and bold, inclusive branding.  Since its launch, SUGAR has established a strong presence in both online and retail channels, appealing to millennials and Gen Z in India.</a:t>
            </a:r>
          </a:p>
        </p:txBody>
      </p:sp>
      <p:pic>
        <p:nvPicPr>
          <p:cNvPr id="3" name="Picture 2" descr="A black letter in a pink circle&#10;&#10;AI-generated content may be incorrect.">
            <a:extLst>
              <a:ext uri="{FF2B5EF4-FFF2-40B4-BE49-F238E27FC236}">
                <a16:creationId xmlns:a16="http://schemas.microsoft.com/office/drawing/2014/main" id="{EFD1729A-F7C8-DB36-F376-1F8D4DC92CA8}"/>
              </a:ext>
            </a:extLst>
          </p:cNvPr>
          <p:cNvPicPr>
            <a:picLocks noChangeAspect="1"/>
          </p:cNvPicPr>
          <p:nvPr/>
        </p:nvPicPr>
        <p:blipFill>
          <a:blip r:embed="rId2"/>
          <a:stretch>
            <a:fillRect/>
          </a:stretch>
        </p:blipFill>
        <p:spPr>
          <a:xfrm>
            <a:off x="5750806" y="0"/>
            <a:ext cx="3227941" cy="5143500"/>
          </a:xfrm>
          <a:prstGeom prst="rect">
            <a:avLst/>
          </a:prstGeom>
        </p:spPr>
      </p:pic>
      <p:sp>
        <p:nvSpPr>
          <p:cNvPr id="6" name="Rectangle 5">
            <a:extLst>
              <a:ext uri="{FF2B5EF4-FFF2-40B4-BE49-F238E27FC236}">
                <a16:creationId xmlns:a16="http://schemas.microsoft.com/office/drawing/2014/main" id="{F7EB5FF4-8C49-4B96-B9F7-2815C942C7AB}"/>
              </a:ext>
            </a:extLst>
          </p:cNvPr>
          <p:cNvSpPr/>
          <p:nvPr/>
        </p:nvSpPr>
        <p:spPr>
          <a:xfrm>
            <a:off x="5838939" y="77118"/>
            <a:ext cx="3139808" cy="5066382"/>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 name="Straight Connector 1">
            <a:extLst>
              <a:ext uri="{FF2B5EF4-FFF2-40B4-BE49-F238E27FC236}">
                <a16:creationId xmlns:a16="http://schemas.microsoft.com/office/drawing/2014/main" id="{D782409D-B71D-FA80-8BC2-F41D51DB96CE}"/>
              </a:ext>
            </a:extLst>
          </p:cNvPr>
          <p:cNvCxnSpPr>
            <a:cxnSpLocks/>
          </p:cNvCxnSpPr>
          <p:nvPr/>
        </p:nvCxnSpPr>
        <p:spPr>
          <a:xfrm>
            <a:off x="140855" y="1034610"/>
            <a:ext cx="3252340" cy="0"/>
          </a:xfrm>
          <a:prstGeom prst="line">
            <a:avLst/>
          </a:prstGeom>
          <a:ln>
            <a:solidFill>
              <a:schemeClr val="tx1"/>
            </a:solidFill>
          </a:ln>
          <a:effectLst>
            <a:outerShdw blurRad="50800" dist="38100" dir="13500000" algn="br"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01633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5D7550B6-E2F4-7D2A-7B86-85ECBA31D68E}"/>
              </a:ext>
            </a:extLst>
          </p:cNvPr>
          <p:cNvSpPr/>
          <p:nvPr/>
        </p:nvSpPr>
        <p:spPr>
          <a:xfrm>
            <a:off x="3116713" y="469008"/>
            <a:ext cx="2666024" cy="616417"/>
          </a:xfrm>
          <a:prstGeom prst="roundRect">
            <a:avLst/>
          </a:prstGeom>
          <a:solidFill>
            <a:schemeClr val="lt1">
              <a:alpha val="22000"/>
            </a:schemeClr>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6" name="Rectangle: Rounded Corners 15">
            <a:extLst>
              <a:ext uri="{FF2B5EF4-FFF2-40B4-BE49-F238E27FC236}">
                <a16:creationId xmlns:a16="http://schemas.microsoft.com/office/drawing/2014/main" id="{2F58610C-7728-F8F6-111E-79EF156508AC}"/>
              </a:ext>
            </a:extLst>
          </p:cNvPr>
          <p:cNvSpPr/>
          <p:nvPr/>
        </p:nvSpPr>
        <p:spPr>
          <a:xfrm>
            <a:off x="0" y="463206"/>
            <a:ext cx="2666024" cy="616417"/>
          </a:xfrm>
          <a:prstGeom prst="roundRect">
            <a:avLst/>
          </a:prstGeom>
          <a:solidFill>
            <a:schemeClr val="lt1">
              <a:alpha val="22000"/>
            </a:schemeClr>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b="1" dirty="0"/>
          </a:p>
        </p:txBody>
      </p:sp>
      <p:sp>
        <p:nvSpPr>
          <p:cNvPr id="5" name="Text Placeholder 4"/>
          <p:cNvSpPr>
            <a:spLocks noGrp="1"/>
          </p:cNvSpPr>
          <p:nvPr>
            <p:ph type="body" idx="1"/>
          </p:nvPr>
        </p:nvSpPr>
        <p:spPr>
          <a:xfrm>
            <a:off x="-138713" y="517301"/>
            <a:ext cx="2804737" cy="479822"/>
          </a:xfrm>
        </p:spPr>
        <p:txBody>
          <a:bodyPr>
            <a:normAutofit fontScale="62500" lnSpcReduction="20000"/>
          </a:bodyPr>
          <a:lstStyle/>
          <a:p>
            <a:r>
              <a:rPr lang="en-US" dirty="0"/>
              <a:t>FOUNDER OF SUGAR</a:t>
            </a:r>
          </a:p>
        </p:txBody>
      </p:sp>
      <p:sp>
        <p:nvSpPr>
          <p:cNvPr id="6" name="Content Placeholder 5"/>
          <p:cNvSpPr>
            <a:spLocks noGrp="1"/>
          </p:cNvSpPr>
          <p:nvPr>
            <p:ph sz="half" idx="2"/>
          </p:nvPr>
        </p:nvSpPr>
        <p:spPr>
          <a:xfrm>
            <a:off x="-42049" y="1325875"/>
            <a:ext cx="3073706" cy="3817625"/>
          </a:xfrm>
        </p:spPr>
        <p:txBody>
          <a:bodyPr>
            <a:noAutofit/>
          </a:bodyPr>
          <a:lstStyle/>
          <a:p>
            <a:pPr marL="0" indent="0">
              <a:buNone/>
            </a:pPr>
            <a:r>
              <a:rPr lang="en-US" sz="900" dirty="0">
                <a:solidFill>
                  <a:schemeClr val="tx2">
                    <a:lumMod val="60000"/>
                    <a:lumOff val="40000"/>
                  </a:schemeClr>
                </a:solidFill>
                <a:latin typeface="Microsoft YaHei UI" panose="020B0503020204020204" pitchFamily="34" charset="-122"/>
                <a:ea typeface="Microsoft YaHei UI" panose="020B0503020204020204" pitchFamily="34" charset="-122"/>
                <a:cs typeface="Calibri" panose="020F0502020204030204" pitchFamily="34" charset="0"/>
              </a:rPr>
              <a:t>The brand was co-founded by Vineeta Singh and Kaushik Mukherjee.  </a:t>
            </a:r>
            <a:r>
              <a:rPr lang="en-US" sz="900" dirty="0">
                <a:latin typeface="Microsoft YaHei UI" panose="020B0503020204020204" pitchFamily="34" charset="-122"/>
                <a:ea typeface="Microsoft YaHei UI" panose="020B0503020204020204" pitchFamily="34" charset="-122"/>
                <a:cs typeface="Calibri" panose="020F0502020204030204" pitchFamily="34" charset="0"/>
              </a:rPr>
              <a:t>Vineeta Singh serves as CEO and has been instrumental in driving the brand’s strategy, positioning SUGAR as a leading Indian beauty firm with inclusive products and a strong D2C and omnichannel approach.</a:t>
            </a:r>
          </a:p>
          <a:p>
            <a:pPr marL="0" indent="0">
              <a:buNone/>
            </a:pPr>
            <a:r>
              <a:rPr lang="en-US" sz="900" dirty="0">
                <a:latin typeface="Microsoft YaHei UI" panose="020B0503020204020204" pitchFamily="34" charset="-122"/>
                <a:ea typeface="Microsoft YaHei UI" panose="020B0503020204020204" pitchFamily="34" charset="-122"/>
                <a:cs typeface="Calibri" panose="020F0502020204030204" pitchFamily="34" charset="0"/>
              </a:rPr>
              <a:t>The cosmetic company she founded in 2015, alongside her husband and partner, Kaushik Mukherjee The Mumbai-based startup was making monthly sales of Rs 5 crore to Rs 10 crore January 2020, and had a revenue target of Rs 200crore this year. </a:t>
            </a:r>
            <a:r>
              <a:rPr lang="en-US" sz="900" dirty="0">
                <a:solidFill>
                  <a:schemeClr val="tx2">
                    <a:lumMod val="60000"/>
                    <a:lumOff val="40000"/>
                  </a:schemeClr>
                </a:solidFill>
                <a:latin typeface="Microsoft YaHei UI" panose="020B0503020204020204" pitchFamily="34" charset="-122"/>
                <a:ea typeface="Microsoft YaHei UI" panose="020B0503020204020204" pitchFamily="34" charset="-122"/>
                <a:cs typeface="Calibri" panose="020F0502020204030204" pitchFamily="34" charset="0"/>
              </a:rPr>
              <a:t>Sugar Cosmetics came up with just two products. Since then, the company has grown to 450 stock-keeping units.</a:t>
            </a:r>
          </a:p>
          <a:p>
            <a:pPr marL="0" indent="0">
              <a:buNone/>
            </a:pPr>
            <a:r>
              <a:rPr lang="en-US" sz="900" dirty="0">
                <a:latin typeface="Microsoft YaHei UI" panose="020B0503020204020204" pitchFamily="34" charset="-122"/>
                <a:ea typeface="Microsoft YaHei UI" panose="020B0503020204020204" pitchFamily="34" charset="-122"/>
                <a:cs typeface="Calibri" panose="020F0502020204030204" pitchFamily="34" charset="0"/>
              </a:rPr>
              <a:t>After five years, including one during which a pandemic occurred, SUGAR expects to end Fiscal Year 21 with a power-play of over Rs. 150 crores SUGAR opened a Shopify store, which it continues to operate. The firm also released an app in November 2019 that has over 800, 000 downloads and a 4.6star rating on Android and Ios. The brand has expanded outside India having a physical outlet in Russia and an online presence in the United States. Sugar Cosmetics operating income increased by 82 percent in FY20, from Rs 57.14 crore in FY19 to over Rs 104 crore</a:t>
            </a:r>
          </a:p>
        </p:txBody>
      </p:sp>
      <p:sp>
        <p:nvSpPr>
          <p:cNvPr id="7" name="Text Placeholder 6"/>
          <p:cNvSpPr>
            <a:spLocks noGrp="1"/>
          </p:cNvSpPr>
          <p:nvPr>
            <p:ph type="body" sz="quarter" idx="3"/>
          </p:nvPr>
        </p:nvSpPr>
        <p:spPr>
          <a:xfrm>
            <a:off x="3184639" y="586384"/>
            <a:ext cx="2401677" cy="479822"/>
          </a:xfrm>
        </p:spPr>
        <p:txBody>
          <a:bodyPr>
            <a:normAutofit fontScale="62500" lnSpcReduction="20000"/>
          </a:bodyPr>
          <a:lstStyle/>
          <a:p>
            <a:r>
              <a:rPr lang="en-US" dirty="0"/>
              <a:t>HER ENTERPRENEURIAL BEGINNING</a:t>
            </a:r>
          </a:p>
        </p:txBody>
      </p:sp>
      <p:sp>
        <p:nvSpPr>
          <p:cNvPr id="8" name="Content Placeholder 7"/>
          <p:cNvSpPr>
            <a:spLocks noGrp="1"/>
          </p:cNvSpPr>
          <p:nvPr>
            <p:ph sz="quarter" idx="4"/>
          </p:nvPr>
        </p:nvSpPr>
        <p:spPr>
          <a:xfrm>
            <a:off x="3157805" y="1392072"/>
            <a:ext cx="2455346" cy="3751428"/>
          </a:xfrm>
        </p:spPr>
        <p:txBody>
          <a:bodyPr>
            <a:normAutofit fontScale="85000" lnSpcReduction="20000"/>
          </a:bodyPr>
          <a:lstStyle/>
          <a:p>
            <a:pPr marL="0" indent="0">
              <a:buNone/>
            </a:pPr>
            <a:r>
              <a:rPr lang="en-US" sz="1100" dirty="0">
                <a:latin typeface="Microsoft YaHei UI" panose="020B0503020204020204" pitchFamily="34" charset="-122"/>
                <a:ea typeface="Microsoft YaHei UI" panose="020B0503020204020204" pitchFamily="34" charset="-122"/>
              </a:rPr>
              <a:t>Vineeta Singh’s entrepreneurial journey began with courage, resilience, and a deep desire to build something of her own. After graduating from IIT Madras and IIM Ahmedabad, she was offered a high-paying job, which she boldly declined to pursue her dream of entrepreneurship</a:t>
            </a:r>
            <a:r>
              <a:rPr lang="en-US" sz="1100" dirty="0">
                <a:solidFill>
                  <a:schemeClr val="tx2">
                    <a:lumMod val="60000"/>
                    <a:lumOff val="40000"/>
                  </a:schemeClr>
                </a:solidFill>
                <a:latin typeface="Microsoft YaHei UI" panose="020B0503020204020204" pitchFamily="34" charset="-122"/>
                <a:ea typeface="Microsoft YaHei UI" panose="020B0503020204020204" pitchFamily="34" charset="-122"/>
              </a:rPr>
              <a:t>. Her first venture, a beauty subscription service called FAB BAG, </a:t>
            </a:r>
            <a:r>
              <a:rPr lang="en-US" sz="1100" dirty="0">
                <a:latin typeface="Microsoft YaHei UI" panose="020B0503020204020204" pitchFamily="34" charset="-122"/>
                <a:ea typeface="Microsoft YaHei UI" panose="020B0503020204020204" pitchFamily="34" charset="-122"/>
              </a:rPr>
              <a:t>gave her valuable insights into consumer behavior in India’s beauty market. During this time, she realized that most international beauty products did not cater to Indian skin tones or climate. This market gap inspired her to launch SUGAR Cosmetics in 2015 along with her husband, Kaushik Mukherjee. The journey was far from easy — Vineeta faced skepticism, funding challenges, and long periods without profits. However, her belief in creating an Indian brand for Indian women kept her going. She focused on bold, cruelty-free products and relatable digital marketing, which soon connected with millennials and Gen Z audiences. From selling online to becoming an omnichannel success, her persistence turned SUGAR into one of India’s fastest-growing beauty brands. Vineeta’s story today stands as a testament to determination, vision, and fearless entrepreneurship</a:t>
            </a:r>
            <a:r>
              <a:rPr lang="en-US" sz="900" dirty="0"/>
              <a:t>.</a:t>
            </a:r>
          </a:p>
        </p:txBody>
      </p:sp>
      <p:pic>
        <p:nvPicPr>
          <p:cNvPr id="10" name="Picture 9" descr="A group of lip glosses&#10;&#10;AI-generated content may be incorrect.">
            <a:extLst>
              <a:ext uri="{FF2B5EF4-FFF2-40B4-BE49-F238E27FC236}">
                <a16:creationId xmlns:a16="http://schemas.microsoft.com/office/drawing/2014/main" id="{9E370748-1E59-9AD5-61F3-8FB5C0B737C2}"/>
              </a:ext>
            </a:extLst>
          </p:cNvPr>
          <p:cNvPicPr>
            <a:picLocks noChangeAspect="1"/>
          </p:cNvPicPr>
          <p:nvPr/>
        </p:nvPicPr>
        <p:blipFill>
          <a:blip r:embed="rId2"/>
          <a:stretch>
            <a:fillRect/>
          </a:stretch>
        </p:blipFill>
        <p:spPr>
          <a:xfrm>
            <a:off x="5756754" y="2787267"/>
            <a:ext cx="3387245" cy="2356233"/>
          </a:xfrm>
          <a:prstGeom prst="rect">
            <a:avLst/>
          </a:prstGeom>
          <a:ln>
            <a:noFill/>
          </a:ln>
          <a:effectLst>
            <a:softEdge rad="112500"/>
          </a:effectLst>
        </p:spPr>
      </p:pic>
      <p:pic>
        <p:nvPicPr>
          <p:cNvPr id="3" name="Picture 2" descr="A person holding a pen&#10;&#10;AI-generated content may be incorrect.">
            <a:extLst>
              <a:ext uri="{FF2B5EF4-FFF2-40B4-BE49-F238E27FC236}">
                <a16:creationId xmlns:a16="http://schemas.microsoft.com/office/drawing/2014/main" id="{0726BFEC-5FE6-A943-31BC-1A763DA22F41}"/>
              </a:ext>
            </a:extLst>
          </p:cNvPr>
          <p:cNvPicPr>
            <a:picLocks noChangeAspect="1"/>
          </p:cNvPicPr>
          <p:nvPr/>
        </p:nvPicPr>
        <p:blipFill>
          <a:blip r:embed="rId3"/>
          <a:stretch>
            <a:fillRect/>
          </a:stretch>
        </p:blipFill>
        <p:spPr>
          <a:xfrm>
            <a:off x="5797845" y="0"/>
            <a:ext cx="3387245" cy="2863133"/>
          </a:xfrm>
          <a:prstGeom prst="rect">
            <a:avLst/>
          </a:prstGeom>
          <a:ln>
            <a:noFill/>
          </a:ln>
          <a:effectLst>
            <a:softEdge rad="112500"/>
          </a:effectLst>
        </p:spPr>
      </p:pic>
      <p:sp>
        <p:nvSpPr>
          <p:cNvPr id="12" name="Rectangle 11">
            <a:extLst>
              <a:ext uri="{FF2B5EF4-FFF2-40B4-BE49-F238E27FC236}">
                <a16:creationId xmlns:a16="http://schemas.microsoft.com/office/drawing/2014/main" id="{24CE007C-375F-5FEA-2CD9-2AA9728EBD23}"/>
              </a:ext>
            </a:extLst>
          </p:cNvPr>
          <p:cNvSpPr/>
          <p:nvPr/>
        </p:nvSpPr>
        <p:spPr>
          <a:xfrm>
            <a:off x="5756754" y="2939667"/>
            <a:ext cx="3305061" cy="2203833"/>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3E8A5D4A-0A5C-4E52-E8AF-7E195EAD0B9E}"/>
              </a:ext>
            </a:extLst>
          </p:cNvPr>
          <p:cNvSpPr/>
          <p:nvPr/>
        </p:nvSpPr>
        <p:spPr>
          <a:xfrm>
            <a:off x="5991339" y="0"/>
            <a:ext cx="3111568" cy="2939667"/>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5342F62B-778C-410A-5842-DF193E636378}"/>
              </a:ext>
            </a:extLst>
          </p:cNvPr>
          <p:cNvSpPr/>
          <p:nvPr/>
        </p:nvSpPr>
        <p:spPr>
          <a:xfrm>
            <a:off x="3116713" y="1251236"/>
            <a:ext cx="2496438" cy="3817625"/>
          </a:xfrm>
          <a:prstGeom prst="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89AB319B-F187-4A85-D725-CE98D52A8E6B}"/>
              </a:ext>
            </a:extLst>
          </p:cNvPr>
          <p:cNvSpPr/>
          <p:nvPr/>
        </p:nvSpPr>
        <p:spPr>
          <a:xfrm>
            <a:off x="0" y="1251236"/>
            <a:ext cx="3031657" cy="3850999"/>
          </a:xfrm>
          <a:prstGeom prst="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70783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7E331-A75F-91F2-288E-323B81EE09C2}"/>
              </a:ext>
            </a:extLst>
          </p:cNvPr>
          <p:cNvSpPr>
            <a:spLocks noGrp="1"/>
          </p:cNvSpPr>
          <p:nvPr>
            <p:ph type="title"/>
          </p:nvPr>
        </p:nvSpPr>
        <p:spPr/>
        <p:txBody>
          <a:bodyPr>
            <a:normAutofit fontScale="90000"/>
          </a:bodyPr>
          <a:lstStyle/>
          <a:p>
            <a:r>
              <a:rPr lang="en-US" dirty="0">
                <a:latin typeface="Algerian" panose="04020705040A02060702" pitchFamily="82" charset="0"/>
              </a:rPr>
              <a:t>SWOT ANALYSIS</a:t>
            </a: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9404B067-2523-BD26-3BF4-851B3F1740F9}"/>
              </a:ext>
            </a:extLst>
          </p:cNvPr>
          <p:cNvSpPr>
            <a:spLocks noGrp="1"/>
          </p:cNvSpPr>
          <p:nvPr>
            <p:ph idx="1"/>
          </p:nvPr>
        </p:nvSpPr>
        <p:spPr>
          <a:xfrm>
            <a:off x="139089" y="1221751"/>
            <a:ext cx="2459487" cy="1788165"/>
          </a:xfrm>
        </p:spPr>
        <p:txBody>
          <a:bodyPr>
            <a:normAutofit fontScale="55000" lnSpcReduction="20000"/>
          </a:bodyPr>
          <a:lstStyle/>
          <a:p>
            <a:pPr marL="0" indent="0">
              <a:buNone/>
            </a:pPr>
            <a:r>
              <a:rPr lang="en-US" dirty="0">
                <a:latin typeface="Algerian" panose="04020705040A02060702" pitchFamily="82" charset="0"/>
              </a:rPr>
              <a:t>Strengths</a:t>
            </a:r>
          </a:p>
          <a:p>
            <a:pPr marL="0" indent="0">
              <a:buNone/>
            </a:pPr>
            <a:r>
              <a:rPr lang="en-US" dirty="0">
                <a:latin typeface="Algerian" panose="04020705040A02060702" pitchFamily="82" charset="0"/>
              </a:rPr>
              <a:t>Strong brand identity, inclusive shade range, digital-first marketing, strong appeal among younger consumers</a:t>
            </a:r>
            <a:r>
              <a:rPr lang="en-US" dirty="0"/>
              <a:t>. </a:t>
            </a:r>
            <a:endParaRPr lang="en-IN" dirty="0"/>
          </a:p>
        </p:txBody>
      </p:sp>
      <p:sp>
        <p:nvSpPr>
          <p:cNvPr id="5" name="TextBox 4">
            <a:extLst>
              <a:ext uri="{FF2B5EF4-FFF2-40B4-BE49-F238E27FC236}">
                <a16:creationId xmlns:a16="http://schemas.microsoft.com/office/drawing/2014/main" id="{D7081669-5796-7909-FB1C-37BE44837DFA}"/>
              </a:ext>
            </a:extLst>
          </p:cNvPr>
          <p:cNvSpPr txBox="1"/>
          <p:nvPr/>
        </p:nvSpPr>
        <p:spPr>
          <a:xfrm>
            <a:off x="3861411" y="1352403"/>
            <a:ext cx="3822853" cy="929806"/>
          </a:xfrm>
          <a:prstGeom prst="rect">
            <a:avLst/>
          </a:prstGeom>
          <a:noFill/>
        </p:spPr>
        <p:txBody>
          <a:bodyPr wrap="square">
            <a:spAutoFit/>
          </a:bodyPr>
          <a:lstStyle/>
          <a:p>
            <a:pPr>
              <a:lnSpc>
                <a:spcPct val="80000"/>
              </a:lnSpc>
              <a:spcBef>
                <a:spcPct val="20000"/>
              </a:spcBef>
            </a:pPr>
            <a:r>
              <a:rPr lang="en-US" sz="1600" dirty="0">
                <a:solidFill>
                  <a:schemeClr val="bg1"/>
                </a:solidFill>
                <a:latin typeface="Algerian" panose="04020705040A02060702" pitchFamily="82" charset="0"/>
              </a:rPr>
              <a:t>Weaknesses</a:t>
            </a:r>
          </a:p>
          <a:p>
            <a:pPr>
              <a:lnSpc>
                <a:spcPct val="80000"/>
              </a:lnSpc>
              <a:spcBef>
                <a:spcPct val="20000"/>
              </a:spcBef>
            </a:pPr>
            <a:r>
              <a:rPr lang="en-US" sz="1600" dirty="0">
                <a:solidFill>
                  <a:schemeClr val="bg1"/>
                </a:solidFill>
                <a:latin typeface="Algerian" panose="04020705040A02060702" pitchFamily="82" charset="0"/>
              </a:rPr>
              <a:t>Highly competitive market, possible dependence on fast-moving trends, margin pressures</a:t>
            </a:r>
            <a:endParaRPr lang="en-IN" sz="1600" dirty="0">
              <a:solidFill>
                <a:schemeClr val="bg1"/>
              </a:solidFill>
              <a:latin typeface="Algerian" panose="04020705040A02060702" pitchFamily="82" charset="0"/>
            </a:endParaRPr>
          </a:p>
        </p:txBody>
      </p:sp>
      <p:sp>
        <p:nvSpPr>
          <p:cNvPr id="7" name="TextBox 6">
            <a:extLst>
              <a:ext uri="{FF2B5EF4-FFF2-40B4-BE49-F238E27FC236}">
                <a16:creationId xmlns:a16="http://schemas.microsoft.com/office/drawing/2014/main" id="{E92781FF-3DAC-4384-3554-6D2FEEC544FD}"/>
              </a:ext>
            </a:extLst>
          </p:cNvPr>
          <p:cNvSpPr txBox="1"/>
          <p:nvPr/>
        </p:nvSpPr>
        <p:spPr>
          <a:xfrm>
            <a:off x="4021156" y="2430262"/>
            <a:ext cx="2828579" cy="369332"/>
          </a:xfrm>
          <a:prstGeom prst="rect">
            <a:avLst/>
          </a:prstGeom>
          <a:noFill/>
        </p:spPr>
        <p:txBody>
          <a:bodyPr wrap="square">
            <a:spAutoFit/>
          </a:bodyPr>
          <a:lstStyle/>
          <a:p>
            <a:r>
              <a:rPr lang="en-US" dirty="0"/>
              <a:t>. </a:t>
            </a:r>
            <a:endParaRPr lang="en-IN" dirty="0"/>
          </a:p>
        </p:txBody>
      </p:sp>
      <p:sp>
        <p:nvSpPr>
          <p:cNvPr id="9" name="TextBox 8">
            <a:extLst>
              <a:ext uri="{FF2B5EF4-FFF2-40B4-BE49-F238E27FC236}">
                <a16:creationId xmlns:a16="http://schemas.microsoft.com/office/drawing/2014/main" id="{E629CD40-9B8D-B084-373D-A8BB2DA24DBE}"/>
              </a:ext>
            </a:extLst>
          </p:cNvPr>
          <p:cNvSpPr txBox="1"/>
          <p:nvPr/>
        </p:nvSpPr>
        <p:spPr>
          <a:xfrm>
            <a:off x="4234607" y="2861292"/>
            <a:ext cx="2401676" cy="1815882"/>
          </a:xfrm>
          <a:prstGeom prst="rect">
            <a:avLst/>
          </a:prstGeom>
          <a:noFill/>
        </p:spPr>
        <p:txBody>
          <a:bodyPr wrap="square">
            <a:spAutoFit/>
          </a:bodyPr>
          <a:lstStyle/>
          <a:p>
            <a:r>
              <a:rPr lang="en-US" sz="1600" b="1" spc="50" dirty="0">
                <a:ln w="0"/>
                <a:solidFill>
                  <a:schemeClr val="bg2"/>
                </a:solidFill>
                <a:effectLst>
                  <a:innerShdw blurRad="63500" dist="50800" dir="13500000">
                    <a:srgbClr val="000000">
                      <a:alpha val="50000"/>
                    </a:srgbClr>
                  </a:innerShdw>
                </a:effectLst>
                <a:latin typeface="Algerian" panose="04020705040A02060702" pitchFamily="82" charset="0"/>
              </a:rPr>
              <a:t>Threats</a:t>
            </a:r>
          </a:p>
          <a:p>
            <a:r>
              <a:rPr lang="en-US" sz="1600" b="1" spc="50" dirty="0">
                <a:ln w="0"/>
                <a:solidFill>
                  <a:schemeClr val="bg2"/>
                </a:solidFill>
                <a:effectLst>
                  <a:innerShdw blurRad="63500" dist="50800" dir="13500000">
                    <a:srgbClr val="000000">
                      <a:alpha val="50000"/>
                    </a:srgbClr>
                  </a:innerShdw>
                </a:effectLst>
                <a:latin typeface="Algerian" panose="04020705040A02060702" pitchFamily="82" charset="0"/>
              </a:rPr>
              <a:t>Global brands entering India, rising input costs, changing consumer preferences and regulatory risks</a:t>
            </a:r>
            <a:r>
              <a:rPr lang="en-US" sz="1600" dirty="0">
                <a:latin typeface="Algerian" panose="04020705040A02060702" pitchFamily="82" charset="0"/>
              </a:rPr>
              <a:t>.</a:t>
            </a:r>
            <a:endParaRPr lang="en-IN" sz="1600" dirty="0">
              <a:latin typeface="Algerian" panose="04020705040A02060702" pitchFamily="82" charset="0"/>
            </a:endParaRPr>
          </a:p>
        </p:txBody>
      </p:sp>
      <p:sp>
        <p:nvSpPr>
          <p:cNvPr id="11" name="TextBox 10">
            <a:extLst>
              <a:ext uri="{FF2B5EF4-FFF2-40B4-BE49-F238E27FC236}">
                <a16:creationId xmlns:a16="http://schemas.microsoft.com/office/drawing/2014/main" id="{420C761B-A409-1F73-CAA7-6BC853EAAA0A}"/>
              </a:ext>
            </a:extLst>
          </p:cNvPr>
          <p:cNvSpPr txBox="1"/>
          <p:nvPr/>
        </p:nvSpPr>
        <p:spPr>
          <a:xfrm>
            <a:off x="139089" y="3133624"/>
            <a:ext cx="3882067" cy="1323439"/>
          </a:xfrm>
          <a:prstGeom prst="rect">
            <a:avLst/>
          </a:prstGeom>
          <a:noFill/>
        </p:spPr>
        <p:txBody>
          <a:bodyPr wrap="square">
            <a:spAutoFit/>
          </a:bodyPr>
          <a:lstStyle/>
          <a:p>
            <a:r>
              <a:rPr lang="en-US" sz="1600" dirty="0">
                <a:solidFill>
                  <a:schemeClr val="bg1"/>
                </a:solidFill>
                <a:latin typeface="Algerian" panose="04020705040A02060702" pitchFamily="82" charset="0"/>
              </a:rPr>
              <a:t>Opportunities</a:t>
            </a:r>
          </a:p>
          <a:p>
            <a:r>
              <a:rPr lang="en-US" sz="1600" dirty="0">
                <a:solidFill>
                  <a:schemeClr val="bg1"/>
                </a:solidFill>
                <a:latin typeface="Algerian" panose="04020705040A02060702" pitchFamily="82" charset="0"/>
              </a:rPr>
              <a:t>Expansion into new categories (skincare, haircare), growth in Tier II/III cities, international markets</a:t>
            </a:r>
            <a:endParaRPr lang="en-IN" sz="1600" dirty="0"/>
          </a:p>
        </p:txBody>
      </p:sp>
      <p:cxnSp>
        <p:nvCxnSpPr>
          <p:cNvPr id="6" name="Straight Connector 5">
            <a:extLst>
              <a:ext uri="{FF2B5EF4-FFF2-40B4-BE49-F238E27FC236}">
                <a16:creationId xmlns:a16="http://schemas.microsoft.com/office/drawing/2014/main" id="{1414D9BA-171C-D8B3-1880-E6930206430C}"/>
              </a:ext>
            </a:extLst>
          </p:cNvPr>
          <p:cNvCxnSpPr>
            <a:cxnSpLocks/>
            <a:endCxn id="2" idx="2"/>
          </p:cNvCxnSpPr>
          <p:nvPr/>
        </p:nvCxnSpPr>
        <p:spPr>
          <a:xfrm>
            <a:off x="275422" y="1159229"/>
            <a:ext cx="3527760" cy="0"/>
          </a:xfrm>
          <a:prstGeom prst="line">
            <a:avLst/>
          </a:prstGeom>
          <a:ln>
            <a:solidFill>
              <a:schemeClr val="tx1"/>
            </a:solidFill>
          </a:ln>
          <a:effectLst>
            <a:outerShdw blurRad="50800" dist="38100" dir="13500000" algn="br"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5215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E3E120A9-3799-7884-3A03-27DACF510B95}"/>
              </a:ext>
            </a:extLst>
          </p:cNvPr>
          <p:cNvSpPr/>
          <p:nvPr/>
        </p:nvSpPr>
        <p:spPr>
          <a:xfrm>
            <a:off x="5769165" y="478795"/>
            <a:ext cx="3183875" cy="770244"/>
          </a:xfrm>
          <a:prstGeom prst="roundRect">
            <a:avLst/>
          </a:prstGeom>
          <a:solidFill>
            <a:schemeClr val="accent2">
              <a:lumMod val="50000"/>
              <a:alpha val="45000"/>
            </a:schemeClr>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b="1" dirty="0"/>
          </a:p>
        </p:txBody>
      </p:sp>
      <p:sp>
        <p:nvSpPr>
          <p:cNvPr id="5" name="Rectangle: Rounded Corners 4">
            <a:extLst>
              <a:ext uri="{FF2B5EF4-FFF2-40B4-BE49-F238E27FC236}">
                <a16:creationId xmlns:a16="http://schemas.microsoft.com/office/drawing/2014/main" id="{B5F510C9-2B82-DA89-8D35-71616B0FC9CA}"/>
              </a:ext>
            </a:extLst>
          </p:cNvPr>
          <p:cNvSpPr/>
          <p:nvPr/>
        </p:nvSpPr>
        <p:spPr>
          <a:xfrm>
            <a:off x="-1" y="463206"/>
            <a:ext cx="2992915" cy="752423"/>
          </a:xfrm>
          <a:prstGeom prst="roundRect">
            <a:avLst/>
          </a:prstGeom>
          <a:solidFill>
            <a:schemeClr val="lt1">
              <a:alpha val="22000"/>
            </a:schemeClr>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b="1" dirty="0"/>
          </a:p>
        </p:txBody>
      </p:sp>
      <p:sp>
        <p:nvSpPr>
          <p:cNvPr id="2" name="Title 1">
            <a:extLst>
              <a:ext uri="{FF2B5EF4-FFF2-40B4-BE49-F238E27FC236}">
                <a16:creationId xmlns:a16="http://schemas.microsoft.com/office/drawing/2014/main" id="{A2CD6323-ADF6-16AB-6E61-F9FB914A8850}"/>
              </a:ext>
            </a:extLst>
          </p:cNvPr>
          <p:cNvSpPr>
            <a:spLocks noGrp="1"/>
          </p:cNvSpPr>
          <p:nvPr>
            <p:ph type="title"/>
          </p:nvPr>
        </p:nvSpPr>
        <p:spPr>
          <a:xfrm>
            <a:off x="5392757" y="440676"/>
            <a:ext cx="2715658" cy="857250"/>
          </a:xfrm>
        </p:spPr>
        <p:txBody>
          <a:bodyPr>
            <a:normAutofit/>
          </a:bodyPr>
          <a:lstStyle/>
          <a:p>
            <a:pPr algn="r"/>
            <a:r>
              <a:rPr lang="en-US" sz="2800" b="1" dirty="0">
                <a:latin typeface="Gabriola" panose="04040605051002020D02" pitchFamily="82" charset="0"/>
              </a:rPr>
              <a:t>COMPETITORS</a:t>
            </a:r>
            <a:endParaRPr lang="en-IN" sz="2800" b="1" dirty="0">
              <a:latin typeface="Gabriola" panose="04040605051002020D02" pitchFamily="82" charset="0"/>
            </a:endParaRPr>
          </a:p>
        </p:txBody>
      </p:sp>
      <p:sp>
        <p:nvSpPr>
          <p:cNvPr id="3" name="Content Placeholder 2">
            <a:extLst>
              <a:ext uri="{FF2B5EF4-FFF2-40B4-BE49-F238E27FC236}">
                <a16:creationId xmlns:a16="http://schemas.microsoft.com/office/drawing/2014/main" id="{1F8EA25A-D998-6E3A-6673-2DCCB689A821}"/>
              </a:ext>
            </a:extLst>
          </p:cNvPr>
          <p:cNvSpPr>
            <a:spLocks noGrp="1"/>
          </p:cNvSpPr>
          <p:nvPr>
            <p:ph sz="half" idx="1"/>
          </p:nvPr>
        </p:nvSpPr>
        <p:spPr>
          <a:xfrm>
            <a:off x="38559" y="1297926"/>
            <a:ext cx="2715658" cy="3845574"/>
          </a:xfrm>
        </p:spPr>
        <p:txBody>
          <a:bodyPr>
            <a:noAutofit/>
          </a:bodyPr>
          <a:lstStyle/>
          <a:p>
            <a:pPr marL="0" indent="0">
              <a:buNone/>
            </a:pPr>
            <a:r>
              <a:rPr lang="en-US" sz="1000" b="1" dirty="0">
                <a:latin typeface="Arial" panose="020B0604020202020204" pitchFamily="34" charset="0"/>
                <a:cs typeface="Arial" panose="020B0604020202020204" pitchFamily="34" charset="0"/>
              </a:rPr>
              <a:t>The brand has been honoured with titles such as </a:t>
            </a:r>
            <a:r>
              <a:rPr lang="en-US" sz="1000" b="1" dirty="0">
                <a:solidFill>
                  <a:schemeClr val="tx2">
                    <a:lumMod val="60000"/>
                    <a:lumOff val="40000"/>
                  </a:schemeClr>
                </a:solidFill>
                <a:latin typeface="Arial" panose="020B0604020202020204" pitchFamily="34" charset="0"/>
                <a:cs typeface="Arial" panose="020B0604020202020204" pitchFamily="34" charset="0"/>
              </a:rPr>
              <a:t>Retail Start-Up of the Year (2019) and Most Promising Brand of the Year by major business publications</a:t>
            </a:r>
            <a:r>
              <a:rPr lang="en-US" sz="1000" b="1" dirty="0">
                <a:latin typeface="Arial" panose="020B0604020202020204" pitchFamily="34" charset="0"/>
                <a:cs typeface="Arial" panose="020B0604020202020204" pitchFamily="34" charset="0"/>
              </a:rPr>
              <a:t>. Founder Vineeta Singh has also been recognised individually, featuring in lists like 40 Under 40 by The Economic Times and W-Power by Forbes. Under her leadership, the brand took on a key role in the Indian beauty market — promoting inclusive makeup for Indian skin tones and building a digital-first D2C (direct-to-consumer) strategy. SUGAR’s roles include innovating product offerings, rapid retail expansion, and influencing new consumer trends among millennials and Gen-Z. The rewards not only reflect business growth but also brand reputation, innovation awards, and leadership recognition in the retail &amp; consumer goods sector. Vineeta has also taken on the role of mentor and investor (as a judge on a business TV show) further extending the brand’s influence beyond products.</a:t>
            </a:r>
            <a:endParaRPr lang="en-IN" sz="10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7298247F-7DFE-29F4-2EB4-A9DD5EB0B367}"/>
              </a:ext>
            </a:extLst>
          </p:cNvPr>
          <p:cNvSpPr>
            <a:spLocks noGrp="1"/>
          </p:cNvSpPr>
          <p:nvPr>
            <p:ph sz="half" idx="2"/>
          </p:nvPr>
        </p:nvSpPr>
        <p:spPr>
          <a:xfrm>
            <a:off x="6318173" y="1249039"/>
            <a:ext cx="2825827" cy="3894462"/>
          </a:xfrm>
        </p:spPr>
        <p:txBody>
          <a:bodyPr>
            <a:noAutofit/>
          </a:bodyPr>
          <a:lstStyle/>
          <a:p>
            <a:pPr marL="0" indent="0">
              <a:buNone/>
            </a:pPr>
            <a:r>
              <a:rPr lang="en-US" sz="1050" b="1" dirty="0">
                <a:latin typeface="Arial" panose="020B0604020202020204" pitchFamily="34" charset="0"/>
                <a:cs typeface="Arial" panose="020B0604020202020204" pitchFamily="34" charset="0"/>
              </a:rPr>
              <a:t>Sugar Cosmetics operates in a highly competitive beauty and personal care market in India. Its key Indian competitors include </a:t>
            </a:r>
            <a:r>
              <a:rPr lang="en-US" sz="1050" b="1" dirty="0">
                <a:solidFill>
                  <a:schemeClr val="tx2">
                    <a:lumMod val="60000"/>
                    <a:lumOff val="40000"/>
                  </a:schemeClr>
                </a:solidFill>
                <a:latin typeface="Arial" panose="020B0604020202020204" pitchFamily="34" charset="0"/>
                <a:cs typeface="Arial" panose="020B0604020202020204" pitchFamily="34" charset="0"/>
              </a:rPr>
              <a:t>Lakmé, Mamaearth, MyGlamm, and Nykaa </a:t>
            </a:r>
            <a:r>
              <a:rPr lang="en-US" sz="1050" b="1" dirty="0">
                <a:latin typeface="Arial" panose="020B0604020202020204" pitchFamily="34" charset="0"/>
                <a:cs typeface="Arial" panose="020B0604020202020204" pitchFamily="34" charset="0"/>
              </a:rPr>
              <a:t>Cosmetics, which also focus on modern, trend-driven, and affordable makeup for young consumers. Global brands like </a:t>
            </a:r>
            <a:r>
              <a:rPr lang="en-US" sz="1050" b="1" dirty="0">
                <a:solidFill>
                  <a:schemeClr val="tx2">
                    <a:lumMod val="60000"/>
                    <a:lumOff val="40000"/>
                  </a:schemeClr>
                </a:solidFill>
                <a:latin typeface="Arial" panose="020B0604020202020204" pitchFamily="34" charset="0"/>
                <a:cs typeface="Arial" panose="020B0604020202020204" pitchFamily="34" charset="0"/>
              </a:rPr>
              <a:t>Maybelline, L’Oréal, and Revlon </a:t>
            </a:r>
            <a:r>
              <a:rPr lang="en-US" sz="1050" b="1" dirty="0">
                <a:latin typeface="Arial" panose="020B0604020202020204" pitchFamily="34" charset="0"/>
                <a:cs typeface="Arial" panose="020B0604020202020204" pitchFamily="34" charset="0"/>
              </a:rPr>
              <a:t>also compete with Sugar through their strong retail presence and wide product range. Unlike these established names, Sugar differentiates itself with bold branding, inclusive shade ranges, and digital-first marketing. MyGlamm and Mamaearth challenge Sugar in the D2C (direct-to-consumer) space with influencer-based marketing and hybrid product lines. Meanwhile, Nykaa poses strong competition as both a retailer and a brand. Despite this, Sugar maintains a loyal customer base by offering cruelty-free, high-quality products tailored for Indian skin tones and climate conditions.</a:t>
            </a:r>
            <a:endParaRPr lang="en-IN" sz="1050" b="1"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4CBF9973-2AF6-57C9-4263-F840BF376313}"/>
              </a:ext>
            </a:extLst>
          </p:cNvPr>
          <p:cNvSpPr txBox="1">
            <a:spLocks/>
          </p:cNvSpPr>
          <p:nvPr/>
        </p:nvSpPr>
        <p:spPr>
          <a:xfrm>
            <a:off x="190960" y="358379"/>
            <a:ext cx="2992914"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b="1" dirty="0">
                <a:latin typeface="Gabriola" panose="04040605051002020D02" pitchFamily="82" charset="0"/>
              </a:rPr>
              <a:t>REWARDS AND ROLES</a:t>
            </a:r>
            <a:endParaRPr lang="en-IN" sz="2400" b="1" dirty="0">
              <a:latin typeface="Gabriola" panose="04040605051002020D02" pitchFamily="82" charset="0"/>
            </a:endParaRPr>
          </a:p>
        </p:txBody>
      </p:sp>
      <p:pic>
        <p:nvPicPr>
          <p:cNvPr id="8" name="Picture 7" descr="A person in a red dress&#10;&#10;AI-generated content may be incorrect.">
            <a:extLst>
              <a:ext uri="{FF2B5EF4-FFF2-40B4-BE49-F238E27FC236}">
                <a16:creationId xmlns:a16="http://schemas.microsoft.com/office/drawing/2014/main" id="{756988D9-EF2E-427A-8FA0-B91B94E67CB3}"/>
              </a:ext>
            </a:extLst>
          </p:cNvPr>
          <p:cNvPicPr>
            <a:picLocks noChangeAspect="1"/>
          </p:cNvPicPr>
          <p:nvPr/>
        </p:nvPicPr>
        <p:blipFill>
          <a:blip r:embed="rId2"/>
          <a:stretch>
            <a:fillRect/>
          </a:stretch>
        </p:blipFill>
        <p:spPr>
          <a:xfrm>
            <a:off x="2845106" y="1249039"/>
            <a:ext cx="3382178" cy="367963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685298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B8E93-8BC5-78CF-FA67-6A1F94F965A7}"/>
              </a:ext>
            </a:extLst>
          </p:cNvPr>
          <p:cNvSpPr>
            <a:spLocks noGrp="1"/>
          </p:cNvSpPr>
          <p:nvPr>
            <p:ph type="title"/>
          </p:nvPr>
        </p:nvSpPr>
        <p:spPr>
          <a:xfrm>
            <a:off x="0" y="148712"/>
            <a:ext cx="5764548" cy="572644"/>
          </a:xfrm>
        </p:spPr>
        <p:txBody>
          <a:bodyPr>
            <a:normAutofit fontScale="90000"/>
          </a:bodyPr>
          <a:lstStyle/>
          <a:p>
            <a:r>
              <a:rPr lang="en-US" dirty="0">
                <a:latin typeface="Gabriola" panose="04040605051002020D02" pitchFamily="82" charset="0"/>
              </a:rPr>
              <a:t>ENGAGEMENT AND COMMUNITY</a:t>
            </a:r>
            <a:endParaRPr lang="en-IN" dirty="0">
              <a:latin typeface="Gabriola" panose="04040605051002020D02" pitchFamily="82" charset="0"/>
            </a:endParaRPr>
          </a:p>
        </p:txBody>
      </p:sp>
      <p:sp>
        <p:nvSpPr>
          <p:cNvPr id="3" name="Content Placeholder 2">
            <a:extLst>
              <a:ext uri="{FF2B5EF4-FFF2-40B4-BE49-F238E27FC236}">
                <a16:creationId xmlns:a16="http://schemas.microsoft.com/office/drawing/2014/main" id="{3576A5F1-3D30-F9B3-E2E5-901983490EB2}"/>
              </a:ext>
            </a:extLst>
          </p:cNvPr>
          <p:cNvSpPr>
            <a:spLocks noGrp="1"/>
          </p:cNvSpPr>
          <p:nvPr>
            <p:ph idx="1"/>
          </p:nvPr>
        </p:nvSpPr>
        <p:spPr>
          <a:xfrm>
            <a:off x="77118" y="816219"/>
            <a:ext cx="5687430" cy="4178569"/>
          </a:xfrm>
        </p:spPr>
        <p:txBody>
          <a:bodyPr>
            <a:noAutofit/>
          </a:bodyPr>
          <a:lstStyle/>
          <a:p>
            <a:pPr>
              <a:buFont typeface="Wingdings" panose="05000000000000000000" pitchFamily="2" charset="2"/>
              <a:buChar char="Ø"/>
            </a:pPr>
            <a:r>
              <a:rPr lang="en-US" sz="1200" dirty="0">
                <a:latin typeface="Aptos Display" panose="020B0004020202020204" pitchFamily="34" charset="0"/>
              </a:rPr>
              <a:t>SUGAR Cosmetics has created a </a:t>
            </a:r>
            <a:r>
              <a:rPr lang="en-US" sz="1200" b="1" dirty="0">
                <a:solidFill>
                  <a:schemeClr val="tx2"/>
                </a:solidFill>
                <a:latin typeface="Aptos Display" panose="020B0004020202020204" pitchFamily="34" charset="0"/>
              </a:rPr>
              <a:t>strong digital community</a:t>
            </a:r>
            <a:r>
              <a:rPr lang="en-US" sz="1200" dirty="0">
                <a:solidFill>
                  <a:schemeClr val="tx2"/>
                </a:solidFill>
                <a:latin typeface="Aptos Display" panose="020B0004020202020204" pitchFamily="34" charset="0"/>
              </a:rPr>
              <a:t> </a:t>
            </a:r>
            <a:r>
              <a:rPr lang="en-US" sz="1200" dirty="0">
                <a:latin typeface="Aptos Display" panose="020B0004020202020204" pitchFamily="34" charset="0"/>
              </a:rPr>
              <a:t>of beauty-enthusiasts across India, with millions of followers and high social engagement.</a:t>
            </a:r>
          </a:p>
          <a:p>
            <a:pPr>
              <a:buFont typeface="Wingdings" panose="05000000000000000000" pitchFamily="2" charset="2"/>
              <a:buChar char="Ø"/>
            </a:pPr>
            <a:r>
              <a:rPr lang="en-US" sz="1200" dirty="0">
                <a:latin typeface="Aptos Display" panose="020B0004020202020204" pitchFamily="34" charset="0"/>
              </a:rPr>
              <a:t>The brand actively uses social media platforms (Instagram, YouTube, short-video apps) to connect with its audience via trends, influencer content, and interactive campaigns. </a:t>
            </a:r>
          </a:p>
          <a:p>
            <a:pPr>
              <a:buFont typeface="Wingdings" panose="05000000000000000000" pitchFamily="2" charset="2"/>
              <a:buChar char="Ø"/>
            </a:pPr>
            <a:r>
              <a:rPr lang="en-US" sz="1200" dirty="0">
                <a:latin typeface="Aptos Display" panose="020B0004020202020204" pitchFamily="34" charset="0"/>
              </a:rPr>
              <a:t>Campaigns like #GetReadyWithSUGAR (in collaboration with the short video platform Moj) invited user participation, created user-generated content (UGC), and boosted sharing and visibility. </a:t>
            </a:r>
          </a:p>
          <a:p>
            <a:pPr>
              <a:buFont typeface="Wingdings" panose="05000000000000000000" pitchFamily="2" charset="2"/>
              <a:buChar char="Ø"/>
            </a:pPr>
            <a:r>
              <a:rPr lang="en-US" sz="1200" dirty="0">
                <a:latin typeface="Aptos Display" panose="020B0004020202020204" pitchFamily="34" charset="0"/>
              </a:rPr>
              <a:t>SUGAR features </a:t>
            </a:r>
            <a:r>
              <a:rPr lang="en-US" sz="1200" b="1" dirty="0">
                <a:solidFill>
                  <a:schemeClr val="tx2"/>
                </a:solidFill>
                <a:latin typeface="Aptos Display" panose="020B0004020202020204" pitchFamily="34" charset="0"/>
              </a:rPr>
              <a:t>user-generated content</a:t>
            </a:r>
            <a:r>
              <a:rPr lang="en-US" sz="1200" dirty="0">
                <a:solidFill>
                  <a:schemeClr val="tx2"/>
                </a:solidFill>
                <a:latin typeface="Aptos Display" panose="020B0004020202020204" pitchFamily="34" charset="0"/>
              </a:rPr>
              <a:t> </a:t>
            </a:r>
            <a:r>
              <a:rPr lang="en-US" sz="1200" dirty="0">
                <a:latin typeface="Aptos Display" panose="020B0004020202020204" pitchFamily="34" charset="0"/>
              </a:rPr>
              <a:t>(e.g., product looks shared by real users) on its social channels, which helps foster a sense of belonging and authenticity among its community. </a:t>
            </a:r>
          </a:p>
          <a:p>
            <a:pPr>
              <a:buFont typeface="Wingdings" panose="05000000000000000000" pitchFamily="2" charset="2"/>
              <a:buChar char="Ø"/>
            </a:pPr>
            <a:r>
              <a:rPr lang="en-US" sz="1200" dirty="0">
                <a:latin typeface="Aptos Display" panose="020B0004020202020204" pitchFamily="34" charset="0"/>
              </a:rPr>
              <a:t>The brand uses its community not just for promotion but also to </a:t>
            </a:r>
            <a:r>
              <a:rPr lang="en-US" sz="1200" b="1" dirty="0">
                <a:solidFill>
                  <a:schemeClr val="tx2"/>
                </a:solidFill>
                <a:latin typeface="Aptos Display" panose="020B0004020202020204" pitchFamily="34" charset="0"/>
              </a:rPr>
              <a:t>listen, learn and improve</a:t>
            </a:r>
            <a:r>
              <a:rPr lang="en-US" sz="1200" dirty="0">
                <a:solidFill>
                  <a:schemeClr val="tx2"/>
                </a:solidFill>
                <a:latin typeface="Aptos Display" panose="020B0004020202020204" pitchFamily="34" charset="0"/>
              </a:rPr>
              <a:t>:</a:t>
            </a:r>
            <a:r>
              <a:rPr lang="en-US" sz="1200" dirty="0">
                <a:latin typeface="Aptos Display" panose="020B0004020202020204" pitchFamily="34" charset="0"/>
              </a:rPr>
              <a:t> feedback loops and social listening help shape new products and content strategy. </a:t>
            </a:r>
          </a:p>
          <a:p>
            <a:pPr>
              <a:buFont typeface="Wingdings" panose="05000000000000000000" pitchFamily="2" charset="2"/>
              <a:buChar char="Ø"/>
            </a:pPr>
            <a:r>
              <a:rPr lang="en-US" sz="1200" dirty="0">
                <a:latin typeface="Aptos Display" panose="020B0004020202020204" pitchFamily="34" charset="0"/>
              </a:rPr>
              <a:t>Engagement metrics tell the story: at one point, SUGAR had the highest number of cross-platform “actions” (likes, shares, comments) among Indian beauty brands.</a:t>
            </a:r>
          </a:p>
          <a:p>
            <a:pPr>
              <a:buFont typeface="Wingdings" panose="05000000000000000000" pitchFamily="2" charset="2"/>
              <a:buChar char="Ø"/>
            </a:pPr>
            <a:r>
              <a:rPr lang="en-US" sz="1200" dirty="0">
                <a:latin typeface="Aptos Display" panose="020B0004020202020204" pitchFamily="34" charset="0"/>
              </a:rPr>
              <a:t> Offline and online integration is also part of the community strategy: interactions, events and retail experiences contribute to a unified community feel beyond just digital. </a:t>
            </a:r>
          </a:p>
          <a:p>
            <a:pPr>
              <a:buFont typeface="Wingdings" panose="05000000000000000000" pitchFamily="2" charset="2"/>
              <a:buChar char="Ø"/>
            </a:pPr>
            <a:r>
              <a:rPr lang="en-US" sz="1200" dirty="0">
                <a:latin typeface="Aptos Display" panose="020B0004020202020204" pitchFamily="34" charset="0"/>
              </a:rPr>
              <a:t>Because of this strong community focus, SUGAR enjoys </a:t>
            </a:r>
            <a:r>
              <a:rPr lang="en-US" sz="1200" b="1" dirty="0">
                <a:solidFill>
                  <a:schemeClr val="tx2"/>
                </a:solidFill>
                <a:latin typeface="Aptos Display" panose="020B0004020202020204" pitchFamily="34" charset="0"/>
              </a:rPr>
              <a:t>brand advocacy</a:t>
            </a:r>
            <a:r>
              <a:rPr lang="en-US" sz="1200" dirty="0">
                <a:solidFill>
                  <a:schemeClr val="tx2"/>
                </a:solidFill>
                <a:latin typeface="Aptos Display" panose="020B0004020202020204" pitchFamily="34" charset="0"/>
              </a:rPr>
              <a:t> </a:t>
            </a:r>
            <a:r>
              <a:rPr lang="en-US" sz="1200" dirty="0">
                <a:latin typeface="Aptos Display" panose="020B0004020202020204" pitchFamily="34" charset="0"/>
              </a:rPr>
              <a:t> users become brand ambassadors, share their looks, and influence peers, which lowers reliance on paid advertising and strengthens organic growth. </a:t>
            </a:r>
            <a:endParaRPr lang="en-IN" sz="1200" dirty="0">
              <a:latin typeface="Aptos Display" panose="020B0004020202020204" pitchFamily="34" charset="0"/>
            </a:endParaRPr>
          </a:p>
        </p:txBody>
      </p:sp>
      <p:pic>
        <p:nvPicPr>
          <p:cNvPr id="5" name="Picture 4">
            <a:extLst>
              <a:ext uri="{FF2B5EF4-FFF2-40B4-BE49-F238E27FC236}">
                <a16:creationId xmlns:a16="http://schemas.microsoft.com/office/drawing/2014/main" id="{6332DD09-CC8F-F123-5A7C-10E5992BADED}"/>
              </a:ext>
            </a:extLst>
          </p:cNvPr>
          <p:cNvPicPr>
            <a:picLocks noChangeAspect="1"/>
          </p:cNvPicPr>
          <p:nvPr/>
        </p:nvPicPr>
        <p:blipFill>
          <a:blip r:embed="rId2"/>
          <a:stretch>
            <a:fillRect/>
          </a:stretch>
        </p:blipFill>
        <p:spPr>
          <a:xfrm>
            <a:off x="5764549" y="0"/>
            <a:ext cx="3379452" cy="5143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6" name="Straight Connector 5">
            <a:extLst>
              <a:ext uri="{FF2B5EF4-FFF2-40B4-BE49-F238E27FC236}">
                <a16:creationId xmlns:a16="http://schemas.microsoft.com/office/drawing/2014/main" id="{B2BC258B-D23B-6D74-1397-D1F85621D7D0}"/>
              </a:ext>
            </a:extLst>
          </p:cNvPr>
          <p:cNvCxnSpPr>
            <a:cxnSpLocks/>
          </p:cNvCxnSpPr>
          <p:nvPr/>
        </p:nvCxnSpPr>
        <p:spPr>
          <a:xfrm>
            <a:off x="0" y="721356"/>
            <a:ext cx="5764548" cy="0"/>
          </a:xfrm>
          <a:prstGeom prst="line">
            <a:avLst/>
          </a:prstGeom>
          <a:ln>
            <a:solidFill>
              <a:schemeClr val="tx1"/>
            </a:solidFill>
          </a:ln>
          <a:effectLst>
            <a:outerShdw blurRad="50800" dist="38100" dir="13500000" algn="br"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2728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506ADBB-1232-0F7E-9588-E9DF366189EE}"/>
              </a:ext>
            </a:extLst>
          </p:cNvPr>
          <p:cNvPicPr>
            <a:picLocks noGrp="1" noChangeAspect="1"/>
          </p:cNvPicPr>
          <p:nvPr>
            <p:ph type="pic" idx="1"/>
          </p:nvPr>
        </p:nvPicPr>
        <p:blipFill>
          <a:blip r:embed="rId2"/>
          <a:srcRect l="16067" r="16067"/>
          <a:stretch>
            <a:fillRect/>
          </a:stretch>
        </p:blipFill>
        <p:spPr>
          <a:xfrm>
            <a:off x="0" y="0"/>
            <a:ext cx="3140075" cy="355580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4" name="Text Placeholder 3">
            <a:extLst>
              <a:ext uri="{FF2B5EF4-FFF2-40B4-BE49-F238E27FC236}">
                <a16:creationId xmlns:a16="http://schemas.microsoft.com/office/drawing/2014/main" id="{08B0FDCD-D656-321F-0F28-A4FBBFD8A5F9}"/>
              </a:ext>
            </a:extLst>
          </p:cNvPr>
          <p:cNvSpPr>
            <a:spLocks noGrp="1"/>
          </p:cNvSpPr>
          <p:nvPr>
            <p:ph type="body" sz="half" idx="2"/>
          </p:nvPr>
        </p:nvSpPr>
        <p:spPr>
          <a:xfrm>
            <a:off x="0" y="3554425"/>
            <a:ext cx="9144000" cy="1587698"/>
          </a:xfrm>
        </p:spPr>
        <p:txBody>
          <a:bodyPr>
            <a:noAutofit/>
          </a:bodyPr>
          <a:lstStyle/>
          <a:p>
            <a:r>
              <a:rPr lang="en-US" sz="1700" dirty="0">
                <a:latin typeface="Gabriola" panose="04040605051002020D02" pitchFamily="82" charset="0"/>
              </a:rPr>
              <a:t>It now has </a:t>
            </a:r>
            <a:r>
              <a:rPr lang="en-US" sz="1700" b="1" dirty="0">
                <a:solidFill>
                  <a:schemeClr val="tx2"/>
                </a:solidFill>
                <a:latin typeface="Gabriola" panose="04040605051002020D02" pitchFamily="82" charset="0"/>
              </a:rPr>
              <a:t>400+ stores</a:t>
            </a:r>
            <a:r>
              <a:rPr lang="en-US" sz="1700" dirty="0">
                <a:solidFill>
                  <a:schemeClr val="tx2"/>
                </a:solidFill>
                <a:latin typeface="Gabriola" panose="04040605051002020D02" pitchFamily="82" charset="0"/>
              </a:rPr>
              <a:t> </a:t>
            </a:r>
            <a:r>
              <a:rPr lang="en-US" sz="1700" dirty="0">
                <a:latin typeface="Gabriola" panose="04040605051002020D02" pitchFamily="82" charset="0"/>
              </a:rPr>
              <a:t>across more than 150 cities in India, reaching Tier II and Tier III markets. Strategic partnerships with e-commerce platforms such as Amazon, Nykaa, and Flipkart have amplified visibility and sales. Sugar also collaborates with influencers, makeup artists, and retail chains for pop-up experiences and campaigns. Its retail expansion is driven by the goal of making premium-quality, affordable beauty accessible to all. The brand’s presence in both digital and physical spaces helps build stronger customer trust and engagement. This hybrid retail model ensures consistent growth and a wide consumer reach across India</a:t>
            </a:r>
            <a:r>
              <a:rPr lang="en-US" sz="1700" dirty="0"/>
              <a:t>.</a:t>
            </a:r>
            <a:endParaRPr lang="en-IN" sz="1700" dirty="0"/>
          </a:p>
        </p:txBody>
      </p:sp>
      <p:pic>
        <p:nvPicPr>
          <p:cNvPr id="9" name="Picture 8">
            <a:extLst>
              <a:ext uri="{FF2B5EF4-FFF2-40B4-BE49-F238E27FC236}">
                <a16:creationId xmlns:a16="http://schemas.microsoft.com/office/drawing/2014/main" id="{51A1CDB3-E901-F0E9-3B32-C6123FDA354F}"/>
              </a:ext>
            </a:extLst>
          </p:cNvPr>
          <p:cNvPicPr>
            <a:picLocks noChangeAspect="1"/>
          </p:cNvPicPr>
          <p:nvPr/>
        </p:nvPicPr>
        <p:blipFill>
          <a:blip r:embed="rId3"/>
          <a:stretch>
            <a:fillRect/>
          </a:stretch>
        </p:blipFill>
        <p:spPr>
          <a:xfrm>
            <a:off x="6279879" y="0"/>
            <a:ext cx="2864121" cy="355580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1" name="TextBox 10">
            <a:extLst>
              <a:ext uri="{FF2B5EF4-FFF2-40B4-BE49-F238E27FC236}">
                <a16:creationId xmlns:a16="http://schemas.microsoft.com/office/drawing/2014/main" id="{ADE68769-092A-C7DB-9710-EECA1231A3DC}"/>
              </a:ext>
            </a:extLst>
          </p:cNvPr>
          <p:cNvSpPr txBox="1"/>
          <p:nvPr/>
        </p:nvSpPr>
        <p:spPr>
          <a:xfrm>
            <a:off x="3251218" y="1104103"/>
            <a:ext cx="3059935" cy="2308324"/>
          </a:xfrm>
          <a:prstGeom prst="rect">
            <a:avLst/>
          </a:prstGeom>
          <a:noFill/>
        </p:spPr>
        <p:txBody>
          <a:bodyPr wrap="square">
            <a:spAutoFit/>
          </a:bodyPr>
          <a:lstStyle/>
          <a:p>
            <a:r>
              <a:rPr lang="en-US" dirty="0">
                <a:latin typeface="Gabriola" panose="04040605051002020D02" pitchFamily="82" charset="0"/>
              </a:rPr>
              <a:t>Sugar Cosmetics has rapidly grown through an </a:t>
            </a:r>
            <a:r>
              <a:rPr lang="en-US" b="1" dirty="0">
                <a:solidFill>
                  <a:schemeClr val="tx2"/>
                </a:solidFill>
                <a:latin typeface="Gabriola" panose="04040605051002020D02" pitchFamily="82" charset="0"/>
              </a:rPr>
              <a:t>omnichannel retail strategy</a:t>
            </a:r>
            <a:r>
              <a:rPr lang="en-US" dirty="0">
                <a:solidFill>
                  <a:schemeClr val="tx2"/>
                </a:solidFill>
                <a:latin typeface="Gabriola" panose="04040605051002020D02" pitchFamily="82" charset="0"/>
              </a:rPr>
              <a:t>, </a:t>
            </a:r>
            <a:r>
              <a:rPr lang="en-US" dirty="0">
                <a:latin typeface="Gabriola" panose="04040605051002020D02" pitchFamily="82" charset="0"/>
              </a:rPr>
              <a:t>combining online sales with a strong offline presence. The brand began as a digital-first company but soon expanded into </a:t>
            </a:r>
            <a:r>
              <a:rPr lang="en-US" b="1" dirty="0">
                <a:solidFill>
                  <a:schemeClr val="tx2"/>
                </a:solidFill>
                <a:latin typeface="Gabriola" panose="04040605051002020D02" pitchFamily="82" charset="0"/>
              </a:rPr>
              <a:t>exclusive</a:t>
            </a:r>
            <a:r>
              <a:rPr lang="en-US" b="1" dirty="0">
                <a:latin typeface="Gabriola" panose="04040605051002020D02" pitchFamily="82" charset="0"/>
              </a:rPr>
              <a:t> </a:t>
            </a:r>
            <a:r>
              <a:rPr lang="en-US" b="1" dirty="0">
                <a:solidFill>
                  <a:schemeClr val="tx2"/>
                </a:solidFill>
                <a:latin typeface="Gabriola" panose="04040605051002020D02" pitchFamily="82" charset="0"/>
              </a:rPr>
              <a:t>brand outlets (EBOs)</a:t>
            </a:r>
            <a:r>
              <a:rPr lang="en-US" dirty="0">
                <a:solidFill>
                  <a:schemeClr val="tx2"/>
                </a:solidFill>
                <a:latin typeface="Gabriola" panose="04040605051002020D02" pitchFamily="82" charset="0"/>
              </a:rPr>
              <a:t> </a:t>
            </a:r>
            <a:r>
              <a:rPr lang="en-US" dirty="0">
                <a:latin typeface="Gabriola" panose="04040605051002020D02" pitchFamily="82" charset="0"/>
              </a:rPr>
              <a:t>and </a:t>
            </a:r>
            <a:r>
              <a:rPr lang="en-US" b="1" dirty="0">
                <a:solidFill>
                  <a:schemeClr val="tx2"/>
                </a:solidFill>
                <a:latin typeface="Gabriola" panose="04040605051002020D02" pitchFamily="82" charset="0"/>
              </a:rPr>
              <a:t>multi-brand retailers</a:t>
            </a:r>
            <a:r>
              <a:rPr lang="en-US" dirty="0">
                <a:solidFill>
                  <a:schemeClr val="tx2"/>
                </a:solidFill>
                <a:latin typeface="Gabriola" panose="04040605051002020D02" pitchFamily="82" charset="0"/>
              </a:rPr>
              <a:t> </a:t>
            </a:r>
            <a:r>
              <a:rPr lang="en-US" dirty="0">
                <a:latin typeface="Gabriola" panose="04040605051002020D02" pitchFamily="82" charset="0"/>
              </a:rPr>
              <a:t>like Shoppers Stop, Lifestyle, and Nykaa Stores.</a:t>
            </a:r>
            <a:endParaRPr lang="en-IN" dirty="0">
              <a:latin typeface="Gabriola" panose="04040605051002020D02" pitchFamily="82" charset="0"/>
            </a:endParaRPr>
          </a:p>
        </p:txBody>
      </p:sp>
      <p:sp>
        <p:nvSpPr>
          <p:cNvPr id="13" name="TextBox 12">
            <a:extLst>
              <a:ext uri="{FF2B5EF4-FFF2-40B4-BE49-F238E27FC236}">
                <a16:creationId xmlns:a16="http://schemas.microsoft.com/office/drawing/2014/main" id="{FE8259DF-A76E-763A-9181-A1D2219AF5ED}"/>
              </a:ext>
            </a:extLst>
          </p:cNvPr>
          <p:cNvSpPr txBox="1"/>
          <p:nvPr/>
        </p:nvSpPr>
        <p:spPr>
          <a:xfrm>
            <a:off x="3264686" y="583893"/>
            <a:ext cx="2986715" cy="461665"/>
          </a:xfrm>
          <a:prstGeom prst="rect">
            <a:avLst/>
          </a:prstGeom>
          <a:noFill/>
        </p:spPr>
        <p:txBody>
          <a:bodyPr wrap="none" rtlCol="0">
            <a:spAutoFit/>
          </a:bodyPr>
          <a:lstStyle/>
          <a:p>
            <a:r>
              <a:rPr lang="en-US" sz="2400" dirty="0">
                <a:latin typeface="Gabriola" panose="04040605051002020D02" pitchFamily="82" charset="0"/>
              </a:rPr>
              <a:t>RETAIL AND PARTNERSHIP</a:t>
            </a:r>
            <a:endParaRPr lang="en-IN" sz="2400" dirty="0">
              <a:latin typeface="Gabriola" panose="04040605051002020D02" pitchFamily="82" charset="0"/>
            </a:endParaRPr>
          </a:p>
        </p:txBody>
      </p:sp>
      <p:cxnSp>
        <p:nvCxnSpPr>
          <p:cNvPr id="14" name="Straight Connector 13">
            <a:extLst>
              <a:ext uri="{FF2B5EF4-FFF2-40B4-BE49-F238E27FC236}">
                <a16:creationId xmlns:a16="http://schemas.microsoft.com/office/drawing/2014/main" id="{F896C404-6DA8-516A-2022-BE43E2689EC7}"/>
              </a:ext>
            </a:extLst>
          </p:cNvPr>
          <p:cNvCxnSpPr>
            <a:cxnSpLocks/>
          </p:cNvCxnSpPr>
          <p:nvPr/>
        </p:nvCxnSpPr>
        <p:spPr>
          <a:xfrm>
            <a:off x="3264686" y="1045558"/>
            <a:ext cx="2873224" cy="0"/>
          </a:xfrm>
          <a:prstGeom prst="line">
            <a:avLst/>
          </a:prstGeom>
          <a:ln>
            <a:solidFill>
              <a:schemeClr val="tx1"/>
            </a:solidFill>
          </a:ln>
          <a:effectLst>
            <a:outerShdw blurRad="50800" dist="38100" dir="13500000" algn="br"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48764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43E3A-F1BB-3CB2-9D60-F736A7DF1275}"/>
              </a:ext>
            </a:extLst>
          </p:cNvPr>
          <p:cNvSpPr>
            <a:spLocks noGrp="1"/>
          </p:cNvSpPr>
          <p:nvPr>
            <p:ph type="title"/>
          </p:nvPr>
        </p:nvSpPr>
        <p:spPr/>
        <p:txBody>
          <a:bodyPr>
            <a:normAutofit fontScale="90000"/>
          </a:bodyPr>
          <a:lstStyle/>
          <a:p>
            <a:r>
              <a:rPr lang="en-US" dirty="0">
                <a:latin typeface="Gabriola" panose="04040605051002020D02" pitchFamily="82" charset="0"/>
              </a:rPr>
              <a:t>CONCLUSION</a:t>
            </a:r>
            <a:endParaRPr lang="en-IN" dirty="0">
              <a:latin typeface="Gabriola" panose="04040605051002020D02" pitchFamily="82" charset="0"/>
            </a:endParaRPr>
          </a:p>
        </p:txBody>
      </p:sp>
      <p:sp>
        <p:nvSpPr>
          <p:cNvPr id="3" name="Content Placeholder 2">
            <a:extLst>
              <a:ext uri="{FF2B5EF4-FFF2-40B4-BE49-F238E27FC236}">
                <a16:creationId xmlns:a16="http://schemas.microsoft.com/office/drawing/2014/main" id="{F7D1830B-2053-AE37-9214-9DC613B86BD8}"/>
              </a:ext>
            </a:extLst>
          </p:cNvPr>
          <p:cNvSpPr>
            <a:spLocks noGrp="1"/>
          </p:cNvSpPr>
          <p:nvPr>
            <p:ph idx="1"/>
          </p:nvPr>
        </p:nvSpPr>
        <p:spPr>
          <a:xfrm>
            <a:off x="118459" y="1373675"/>
            <a:ext cx="6491661" cy="3511061"/>
          </a:xfrm>
        </p:spPr>
        <p:txBody>
          <a:bodyPr>
            <a:normAutofit fontScale="92500" lnSpcReduction="20000"/>
          </a:bodyPr>
          <a:lstStyle/>
          <a:p>
            <a:pPr marL="0" indent="0">
              <a:buNone/>
            </a:pPr>
            <a:r>
              <a:rPr lang="en-US" sz="2000" dirty="0">
                <a:latin typeface="Aptos Narrow" panose="020B0004020202020204" pitchFamily="34" charset="0"/>
              </a:rPr>
              <a:t>In conclusion, Sugar Cosmetics stands as a </a:t>
            </a:r>
            <a:r>
              <a:rPr lang="en-US" sz="2000" b="1" dirty="0">
                <a:solidFill>
                  <a:srgbClr val="00B0F0"/>
                </a:solidFill>
                <a:latin typeface="Aptos Narrow" panose="020B0004020202020204" pitchFamily="34" charset="0"/>
              </a:rPr>
              <a:t>pioneering Indian beauty brand</a:t>
            </a:r>
            <a:r>
              <a:rPr lang="en-US" sz="2000" dirty="0">
                <a:solidFill>
                  <a:srgbClr val="00B0F0"/>
                </a:solidFill>
                <a:latin typeface="Aptos Narrow" panose="020B0004020202020204" pitchFamily="34" charset="0"/>
              </a:rPr>
              <a:t> </a:t>
            </a:r>
            <a:r>
              <a:rPr lang="en-US" sz="2000" dirty="0">
                <a:latin typeface="Aptos Narrow" panose="020B0004020202020204" pitchFamily="34" charset="0"/>
              </a:rPr>
              <a:t>that merges innovation, inclusivity, and bold identity. Founded by Vineeta Singh, the company reshaped the Indian makeup industry by catering to diverse skin tones and modern preferences. Its success is built on strong digital marketing, influencer engagement, and a powerful community-driven approach. Through its omni-channel presence and data-backed campaigns, </a:t>
            </a:r>
            <a:r>
              <a:rPr lang="en-US" sz="2000" dirty="0">
                <a:solidFill>
                  <a:srgbClr val="00B0F0"/>
                </a:solidFill>
                <a:latin typeface="Aptos Narrow" panose="020B0004020202020204" pitchFamily="34" charset="0"/>
              </a:rPr>
              <a:t>Sugar has created a loyal customer base of millennials and Gen Z</a:t>
            </a:r>
            <a:r>
              <a:rPr lang="en-US" sz="2000" dirty="0">
                <a:solidFill>
                  <a:schemeClr val="accent1">
                    <a:lumMod val="75000"/>
                  </a:schemeClr>
                </a:solidFill>
                <a:latin typeface="Aptos Narrow" panose="020B0004020202020204" pitchFamily="34" charset="0"/>
              </a:rPr>
              <a:t>. </a:t>
            </a:r>
            <a:r>
              <a:rPr lang="en-US" sz="2000" dirty="0">
                <a:latin typeface="Aptos Narrow" panose="020B0004020202020204" pitchFamily="34" charset="0"/>
              </a:rPr>
              <a:t>Despite facing tough competition, the brand continues to thrive through creativity, authenticity, and strategic expansion. It embodies the spirit of modern Indian entrepreneurship confident, independent, and trendsetting. With continuous innovation and customer focus, Sugar Cosmetics is well-positioned to grow as a global beauty powerhouse.</a:t>
            </a:r>
            <a:endParaRPr lang="en-IN" sz="2000" dirty="0">
              <a:latin typeface="Aptos Narrow" panose="020B0004020202020204" pitchFamily="34" charset="0"/>
            </a:endParaRPr>
          </a:p>
        </p:txBody>
      </p:sp>
      <p:cxnSp>
        <p:nvCxnSpPr>
          <p:cNvPr id="4" name="Straight Connector 3">
            <a:extLst>
              <a:ext uri="{FF2B5EF4-FFF2-40B4-BE49-F238E27FC236}">
                <a16:creationId xmlns:a16="http://schemas.microsoft.com/office/drawing/2014/main" id="{37555CF2-D8C7-018E-3CAF-0EB949ECC636}"/>
              </a:ext>
            </a:extLst>
          </p:cNvPr>
          <p:cNvCxnSpPr>
            <a:cxnSpLocks/>
          </p:cNvCxnSpPr>
          <p:nvPr/>
        </p:nvCxnSpPr>
        <p:spPr>
          <a:xfrm>
            <a:off x="275422" y="1159229"/>
            <a:ext cx="3527760" cy="0"/>
          </a:xfrm>
          <a:prstGeom prst="line">
            <a:avLst/>
          </a:prstGeom>
          <a:ln>
            <a:solidFill>
              <a:schemeClr val="tx1"/>
            </a:solidFill>
          </a:ln>
          <a:effectLst>
            <a:outerShdw blurRad="50800" dist="38100" dir="13500000" algn="br" rotWithShape="0">
              <a:prstClr val="black">
                <a:alpha val="40000"/>
              </a:prstClr>
            </a:outerShd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12729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08AC-F272-DB68-2E23-A5AA02FBCCBE}"/>
              </a:ext>
            </a:extLst>
          </p:cNvPr>
          <p:cNvSpPr>
            <a:spLocks noGrp="1"/>
          </p:cNvSpPr>
          <p:nvPr>
            <p:ph type="title"/>
          </p:nvPr>
        </p:nvSpPr>
        <p:spPr>
          <a:xfrm>
            <a:off x="302964" y="2398336"/>
            <a:ext cx="8229600" cy="857250"/>
          </a:xfrm>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THANK YOU</a:t>
            </a:r>
            <a:endParaRPr lang="en-IN"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670793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1437</Words>
  <Application>Microsoft Office PowerPoint</Application>
  <PresentationFormat>On-screen Show (16:9)</PresentationFormat>
  <Paragraphs>39</Paragraphs>
  <Slides>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Microsoft YaHei UI</vt:lpstr>
      <vt:lpstr>ADLaM Display</vt:lpstr>
      <vt:lpstr>Algerian</vt:lpstr>
      <vt:lpstr>Aptos Display</vt:lpstr>
      <vt:lpstr>Aptos Narrow</vt:lpstr>
      <vt:lpstr>Arial</vt:lpstr>
      <vt:lpstr>Calibri</vt:lpstr>
      <vt:lpstr>Gabriola</vt:lpstr>
      <vt:lpstr>Wingdings</vt:lpstr>
      <vt:lpstr>Office Theme</vt:lpstr>
      <vt:lpstr>SUGAR  COSMETICS</vt:lpstr>
      <vt:lpstr>ABOUT</vt:lpstr>
      <vt:lpstr>PowerPoint Presentation</vt:lpstr>
      <vt:lpstr>SWOT ANALYSIS</vt:lpstr>
      <vt:lpstr>COMPETITORS</vt:lpstr>
      <vt:lpstr>ENGAGEMENT AND COMMUNITY</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anjalimishra.am111@gmail.com</cp:lastModifiedBy>
  <cp:revision>1</cp:revision>
  <dcterms:modified xsi:type="dcterms:W3CDTF">2025-11-12T09:26:23Z</dcterms:modified>
</cp:coreProperties>
</file>